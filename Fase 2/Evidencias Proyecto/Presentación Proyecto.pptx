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75" r:id="rId12"/>
    <p:sldId id="276" r:id="rId13"/>
    <p:sldId id="277" r:id="rId14"/>
    <p:sldId id="278" r:id="rId15"/>
    <p:sldId id="267" r:id="rId16"/>
    <p:sldId id="268" r:id="rId17"/>
    <p:sldId id="269" r:id="rId18"/>
    <p:sldId id="270" r:id="rId19"/>
    <p:sldId id="271" r:id="rId20"/>
    <p:sldId id="272" r:id="rId21"/>
    <p:sldId id="273" r:id="rId22"/>
    <p:sldId id="274"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hG3WcN9P6VirsbcHuV2vXUstv0b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B31E44A-B6BE-4C56-A256-951C69883386}">
  <a:tblStyle styleId="{5B31E44A-B6BE-4C56-A256-951C6988338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90e870e1cf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g390e870e1cf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846FACAC-19C1-2A47-F2DD-59AE17C5825F}"/>
            </a:ext>
          </a:extLst>
        </p:cNvPr>
        <p:cNvGrpSpPr/>
        <p:nvPr/>
      </p:nvGrpSpPr>
      <p:grpSpPr>
        <a:xfrm>
          <a:off x="0" y="0"/>
          <a:ext cx="0" cy="0"/>
          <a:chOff x="0" y="0"/>
          <a:chExt cx="0" cy="0"/>
        </a:xfrm>
      </p:grpSpPr>
      <p:sp>
        <p:nvSpPr>
          <p:cNvPr id="173" name="Google Shape;173;p10:notes">
            <a:extLst>
              <a:ext uri="{FF2B5EF4-FFF2-40B4-BE49-F238E27FC236}">
                <a16:creationId xmlns:a16="http://schemas.microsoft.com/office/drawing/2014/main" id="{19CDCEF7-9AA4-1D63-9E24-A5196D0754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10:notes">
            <a:extLst>
              <a:ext uri="{FF2B5EF4-FFF2-40B4-BE49-F238E27FC236}">
                <a16:creationId xmlns:a16="http://schemas.microsoft.com/office/drawing/2014/main" id="{94A9FEE0-5EC6-156B-A2A4-31E23343A5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1842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a:extLst>
            <a:ext uri="{FF2B5EF4-FFF2-40B4-BE49-F238E27FC236}">
              <a16:creationId xmlns:a16="http://schemas.microsoft.com/office/drawing/2014/main" id="{C80DFE72-9FB2-48F8-EED1-403C091AA9A4}"/>
            </a:ext>
          </a:extLst>
        </p:cNvPr>
        <p:cNvGrpSpPr/>
        <p:nvPr/>
      </p:nvGrpSpPr>
      <p:grpSpPr>
        <a:xfrm>
          <a:off x="0" y="0"/>
          <a:ext cx="0" cy="0"/>
          <a:chOff x="0" y="0"/>
          <a:chExt cx="0" cy="0"/>
        </a:xfrm>
      </p:grpSpPr>
      <p:sp>
        <p:nvSpPr>
          <p:cNvPr id="181" name="Google Shape;181;p11:notes">
            <a:extLst>
              <a:ext uri="{FF2B5EF4-FFF2-40B4-BE49-F238E27FC236}">
                <a16:creationId xmlns:a16="http://schemas.microsoft.com/office/drawing/2014/main" id="{3CCBD09F-3B5C-5265-6542-F2EEDDD541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11:notes">
            <a:extLst>
              <a:ext uri="{FF2B5EF4-FFF2-40B4-BE49-F238E27FC236}">
                <a16:creationId xmlns:a16="http://schemas.microsoft.com/office/drawing/2014/main" id="{CE599B1E-8222-DB2F-73C5-70CA64DAAB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3178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a:extLst>
            <a:ext uri="{FF2B5EF4-FFF2-40B4-BE49-F238E27FC236}">
              <a16:creationId xmlns:a16="http://schemas.microsoft.com/office/drawing/2014/main" id="{22AF9762-7B96-F52B-26E8-DD2CD955065B}"/>
            </a:ext>
          </a:extLst>
        </p:cNvPr>
        <p:cNvGrpSpPr/>
        <p:nvPr/>
      </p:nvGrpSpPr>
      <p:grpSpPr>
        <a:xfrm>
          <a:off x="0" y="0"/>
          <a:ext cx="0" cy="0"/>
          <a:chOff x="0" y="0"/>
          <a:chExt cx="0" cy="0"/>
        </a:xfrm>
      </p:grpSpPr>
      <p:sp>
        <p:nvSpPr>
          <p:cNvPr id="181" name="Google Shape;181;p11:notes">
            <a:extLst>
              <a:ext uri="{FF2B5EF4-FFF2-40B4-BE49-F238E27FC236}">
                <a16:creationId xmlns:a16="http://schemas.microsoft.com/office/drawing/2014/main" id="{27B00132-D683-0A38-88B5-05B061C4B84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11:notes">
            <a:extLst>
              <a:ext uri="{FF2B5EF4-FFF2-40B4-BE49-F238E27FC236}">
                <a16:creationId xmlns:a16="http://schemas.microsoft.com/office/drawing/2014/main" id="{750B7532-8CD7-87FE-144E-CC96B0095A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29463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a:extLst>
            <a:ext uri="{FF2B5EF4-FFF2-40B4-BE49-F238E27FC236}">
              <a16:creationId xmlns:a16="http://schemas.microsoft.com/office/drawing/2014/main" id="{6313179D-E8CC-6882-03C6-FF167F0DA6FF}"/>
            </a:ext>
          </a:extLst>
        </p:cNvPr>
        <p:cNvGrpSpPr/>
        <p:nvPr/>
      </p:nvGrpSpPr>
      <p:grpSpPr>
        <a:xfrm>
          <a:off x="0" y="0"/>
          <a:ext cx="0" cy="0"/>
          <a:chOff x="0" y="0"/>
          <a:chExt cx="0" cy="0"/>
        </a:xfrm>
      </p:grpSpPr>
      <p:sp>
        <p:nvSpPr>
          <p:cNvPr id="181" name="Google Shape;181;p11:notes">
            <a:extLst>
              <a:ext uri="{FF2B5EF4-FFF2-40B4-BE49-F238E27FC236}">
                <a16:creationId xmlns:a16="http://schemas.microsoft.com/office/drawing/2014/main" id="{D823B2CC-2A13-5F25-F795-66964D5DE6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11:notes">
            <a:extLst>
              <a:ext uri="{FF2B5EF4-FFF2-40B4-BE49-F238E27FC236}">
                <a16:creationId xmlns:a16="http://schemas.microsoft.com/office/drawing/2014/main" id="{FC28E256-05A6-A719-9FBE-00B3EED818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34688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90e870e1cf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g390e870e1cf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90e870e1cf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g390e870e1cf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90e870e1c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g390e870e1cf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2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2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2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5"/>
        <p:cNvGrpSpPr/>
        <p:nvPr/>
      </p:nvGrpSpPr>
      <p:grpSpPr>
        <a:xfrm>
          <a:off x="0" y="0"/>
          <a:ext cx="0" cy="0"/>
          <a:chOff x="0" y="0"/>
          <a:chExt cx="0" cy="0"/>
        </a:xfrm>
      </p:grpSpPr>
      <p:sp>
        <p:nvSpPr>
          <p:cNvPr id="46" name="Google Shape;46;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9"/>
          <p:cNvSpPr>
            <a:spLocks noGrp="1"/>
          </p:cNvSpPr>
          <p:nvPr>
            <p:ph type="pic" idx="2"/>
          </p:nvPr>
        </p:nvSpPr>
        <p:spPr>
          <a:xfrm>
            <a:off x="5183188" y="987425"/>
            <a:ext cx="6172200" cy="4873625"/>
          </a:xfrm>
          <a:prstGeom prst="rect">
            <a:avLst/>
          </a:prstGeom>
          <a:noFill/>
          <a:ln>
            <a:noFill/>
          </a:ln>
        </p:spPr>
      </p:sp>
      <p:sp>
        <p:nvSpPr>
          <p:cNvPr id="64" name="Google Shape;64;p2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3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85" name="Google Shape;85;p1"/>
          <p:cNvSpPr txBox="1"/>
          <p:nvPr/>
        </p:nvSpPr>
        <p:spPr>
          <a:xfrm>
            <a:off x="1" y="2707792"/>
            <a:ext cx="12191999" cy="113877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4400" b="0" i="0" u="none" strike="noStrike" cap="none">
                <a:solidFill>
                  <a:schemeClr val="dk1"/>
                </a:solidFill>
                <a:latin typeface="Calibri"/>
                <a:ea typeface="Calibri"/>
                <a:cs typeface="Calibri"/>
                <a:sym typeface="Calibri"/>
              </a:rPr>
              <a:t>PROYECTO “CARTRACK”</a:t>
            </a:r>
            <a:endParaRPr/>
          </a:p>
          <a:p>
            <a:pPr marL="0" marR="0" lvl="0" indent="0" algn="ctr" rtl="0">
              <a:spcBef>
                <a:spcPts val="0"/>
              </a:spcBef>
              <a:spcAft>
                <a:spcPts val="0"/>
              </a:spcAft>
              <a:buNone/>
            </a:pPr>
            <a:r>
              <a:rPr lang="es-CL" sz="2400" b="0" i="0" u="none" strike="noStrike" cap="none">
                <a:solidFill>
                  <a:schemeClr val="dk1"/>
                </a:solidFill>
                <a:latin typeface="Calibri"/>
                <a:ea typeface="Calibri"/>
                <a:cs typeface="Calibri"/>
                <a:sym typeface="Calibri"/>
              </a:rPr>
              <a:t>PRESENTACIÓN FINAL CAPSTONE</a:t>
            </a:r>
            <a:endParaRPr sz="2400" b="0" i="0" u="none" strike="noStrike" cap="none">
              <a:solidFill>
                <a:schemeClr val="dk1"/>
              </a:solidFill>
              <a:latin typeface="Calibri"/>
              <a:ea typeface="Calibri"/>
              <a:cs typeface="Calibri"/>
              <a:sym typeface="Calibri"/>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pic>
        <p:nvPicPr>
          <p:cNvPr id="90" name="Google Shape;90;p2"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grpSp>
        <p:nvGrpSpPr>
          <p:cNvPr id="91" name="Google Shape;91;p2"/>
          <p:cNvGrpSpPr/>
          <p:nvPr/>
        </p:nvGrpSpPr>
        <p:grpSpPr>
          <a:xfrm>
            <a:off x="4121026" y="1719438"/>
            <a:ext cx="7633494" cy="4341934"/>
            <a:chOff x="0" y="8619"/>
            <a:chExt cx="7633494" cy="4341934"/>
          </a:xfrm>
        </p:grpSpPr>
        <p:sp>
          <p:nvSpPr>
            <p:cNvPr id="92" name="Google Shape;92;p2"/>
            <p:cNvSpPr/>
            <p:nvPr/>
          </p:nvSpPr>
          <p:spPr>
            <a:xfrm>
              <a:off x="0" y="8619"/>
              <a:ext cx="7633494" cy="1359548"/>
            </a:xfrm>
            <a:prstGeom prst="roundRect">
              <a:avLst>
                <a:gd name="adj" fmla="val 10000"/>
              </a:avLst>
            </a:prstGeom>
            <a:gradFill>
              <a:gsLst>
                <a:gs pos="0">
                  <a:srgbClr val="6EA5DA"/>
                </a:gs>
                <a:gs pos="50000">
                  <a:srgbClr val="529BDA"/>
                </a:gs>
                <a:gs pos="100000">
                  <a:srgbClr val="4188C8"/>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txBox="1"/>
            <p:nvPr/>
          </p:nvSpPr>
          <p:spPr>
            <a:xfrm>
              <a:off x="1662653" y="8619"/>
              <a:ext cx="5970840" cy="1359548"/>
            </a:xfrm>
            <a:prstGeom prst="rect">
              <a:avLst/>
            </a:prstGeom>
            <a:noFill/>
            <a:ln>
              <a:noFill/>
            </a:ln>
          </p:spPr>
          <p:txBody>
            <a:bodyPr spcFirstLastPara="1" wrap="square" lIns="87625" tIns="87625" rIns="87625" bIns="87625" anchor="t" anchorCtr="0">
              <a:noAutofit/>
            </a:bodyPr>
            <a:lstStyle/>
            <a:p>
              <a:pPr marL="0" marR="0" lvl="0" indent="0" algn="l" rtl="0">
                <a:lnSpc>
                  <a:spcPct val="90000"/>
                </a:lnSpc>
                <a:spcBef>
                  <a:spcPts val="0"/>
                </a:spcBef>
                <a:spcAft>
                  <a:spcPts val="0"/>
                </a:spcAft>
                <a:buClr>
                  <a:schemeClr val="lt1"/>
                </a:buClr>
                <a:buSzPts val="2300"/>
                <a:buFont typeface="Calibri"/>
                <a:buNone/>
              </a:pPr>
              <a:r>
                <a:rPr lang="es-CL" sz="2300" b="0" i="0" u="none" strike="noStrike" cap="none">
                  <a:solidFill>
                    <a:schemeClr val="lt1"/>
                  </a:solidFill>
                  <a:latin typeface="Calibri"/>
                  <a:ea typeface="Calibri"/>
                  <a:cs typeface="Calibri"/>
                  <a:sym typeface="Calibri"/>
                </a:rPr>
                <a:t>Salvador Bravo</a:t>
              </a:r>
              <a:endParaRPr sz="2300" b="0" i="0" u="none" strike="noStrike" cap="none">
                <a:solidFill>
                  <a:schemeClr val="lt1"/>
                </a:solidFill>
                <a:latin typeface="Calibri"/>
                <a:ea typeface="Calibri"/>
                <a:cs typeface="Calibri"/>
                <a:sym typeface="Calibri"/>
              </a:endParaRPr>
            </a:p>
            <a:p>
              <a:pPr marL="171450" marR="0" lvl="1" indent="-171450" algn="l" rtl="0">
                <a:lnSpc>
                  <a:spcPct val="90000"/>
                </a:lnSpc>
                <a:spcBef>
                  <a:spcPts val="805"/>
                </a:spcBef>
                <a:spcAft>
                  <a:spcPts val="0"/>
                </a:spcAft>
                <a:buClr>
                  <a:schemeClr val="lt1"/>
                </a:buClr>
                <a:buSzPts val="1800"/>
                <a:buFont typeface="Calibri"/>
                <a:buChar char="•"/>
              </a:pPr>
              <a:r>
                <a:rPr lang="es-CL" sz="1800" b="0" i="0" u="none" strike="noStrike" cap="none">
                  <a:solidFill>
                    <a:schemeClr val="lt1"/>
                  </a:solidFill>
                  <a:latin typeface="Calibri"/>
                  <a:ea typeface="Calibri"/>
                  <a:cs typeface="Calibri"/>
                  <a:sym typeface="Calibri"/>
                </a:rPr>
                <a:t>Desarrollador Fullstack</a:t>
              </a:r>
              <a:endParaRPr/>
            </a:p>
            <a:p>
              <a:pPr marL="171450" marR="0" lvl="1" indent="-171450" algn="l" rtl="0">
                <a:lnSpc>
                  <a:spcPct val="90000"/>
                </a:lnSpc>
                <a:spcBef>
                  <a:spcPts val="270"/>
                </a:spcBef>
                <a:spcAft>
                  <a:spcPts val="0"/>
                </a:spcAft>
                <a:buClr>
                  <a:schemeClr val="lt1"/>
                </a:buClr>
                <a:buSzPts val="1800"/>
                <a:buFont typeface="Calibri"/>
                <a:buChar char="•"/>
              </a:pPr>
              <a:r>
                <a:rPr lang="es-CL" sz="1800" b="0" i="0" u="none" strike="noStrike" cap="none">
                  <a:solidFill>
                    <a:schemeClr val="lt1"/>
                  </a:solidFill>
                  <a:latin typeface="Calibri"/>
                  <a:ea typeface="Calibri"/>
                  <a:cs typeface="Calibri"/>
                  <a:sym typeface="Calibri"/>
                </a:rPr>
                <a:t>Desarrollo frontend, backend, arquitectura, base de datos</a:t>
              </a:r>
              <a:endParaRPr sz="1800" b="0" i="0" u="none" strike="noStrike" cap="none">
                <a:solidFill>
                  <a:schemeClr val="lt1"/>
                </a:solidFill>
                <a:latin typeface="Calibri"/>
                <a:ea typeface="Calibri"/>
                <a:cs typeface="Calibri"/>
                <a:sym typeface="Calibri"/>
              </a:endParaRPr>
            </a:p>
          </p:txBody>
        </p:sp>
        <p:sp>
          <p:nvSpPr>
            <p:cNvPr id="94" name="Google Shape;94;p2"/>
            <p:cNvSpPr/>
            <p:nvPr/>
          </p:nvSpPr>
          <p:spPr>
            <a:xfrm>
              <a:off x="135954" y="135954"/>
              <a:ext cx="1526698" cy="1087638"/>
            </a:xfrm>
            <a:prstGeom prst="roundRect">
              <a:avLst>
                <a:gd name="adj" fmla="val 10000"/>
              </a:avLst>
            </a:prstGeom>
            <a:solidFill>
              <a:srgbClr val="C3D4EB"/>
            </a:soli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0" y="1495502"/>
              <a:ext cx="7633494" cy="1359548"/>
            </a:xfrm>
            <a:prstGeom prst="roundRect">
              <a:avLst>
                <a:gd name="adj" fmla="val 10000"/>
              </a:avLst>
            </a:prstGeom>
            <a:gradFill>
              <a:gsLst>
                <a:gs pos="0">
                  <a:srgbClr val="6EA5DA"/>
                </a:gs>
                <a:gs pos="50000">
                  <a:srgbClr val="529BDA"/>
                </a:gs>
                <a:gs pos="100000">
                  <a:srgbClr val="4188C8"/>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txBox="1"/>
            <p:nvPr/>
          </p:nvSpPr>
          <p:spPr>
            <a:xfrm>
              <a:off x="1662653" y="1495502"/>
              <a:ext cx="5970840" cy="1359548"/>
            </a:xfrm>
            <a:prstGeom prst="rect">
              <a:avLst/>
            </a:prstGeom>
            <a:noFill/>
            <a:ln>
              <a:noFill/>
            </a:ln>
          </p:spPr>
          <p:txBody>
            <a:bodyPr spcFirstLastPara="1" wrap="square" lIns="87625" tIns="87625" rIns="87625" bIns="87625" anchor="t" anchorCtr="0">
              <a:noAutofit/>
            </a:bodyPr>
            <a:lstStyle/>
            <a:p>
              <a:pPr marL="0" marR="0" lvl="0" indent="0" algn="l" rtl="0">
                <a:lnSpc>
                  <a:spcPct val="90000"/>
                </a:lnSpc>
                <a:spcBef>
                  <a:spcPts val="0"/>
                </a:spcBef>
                <a:spcAft>
                  <a:spcPts val="0"/>
                </a:spcAft>
                <a:buClr>
                  <a:schemeClr val="lt1"/>
                </a:buClr>
                <a:buSzPts val="2300"/>
                <a:buFont typeface="Calibri"/>
                <a:buNone/>
              </a:pPr>
              <a:r>
                <a:rPr lang="es-CL" sz="2300" b="0" i="0" u="none" strike="noStrike" cap="none">
                  <a:solidFill>
                    <a:schemeClr val="lt1"/>
                  </a:solidFill>
                  <a:latin typeface="Calibri"/>
                  <a:ea typeface="Calibri"/>
                  <a:cs typeface="Calibri"/>
                  <a:sym typeface="Calibri"/>
                </a:rPr>
                <a:t>Sebastián Mena</a:t>
              </a:r>
              <a:endParaRPr sz="2300" b="0" i="0" u="none" strike="noStrike" cap="none">
                <a:solidFill>
                  <a:schemeClr val="lt1"/>
                </a:solidFill>
                <a:latin typeface="Calibri"/>
                <a:ea typeface="Calibri"/>
                <a:cs typeface="Calibri"/>
                <a:sym typeface="Calibri"/>
              </a:endParaRPr>
            </a:p>
            <a:p>
              <a:pPr marL="171450" marR="0" lvl="1" indent="-171450" algn="l" rtl="0">
                <a:lnSpc>
                  <a:spcPct val="90000"/>
                </a:lnSpc>
                <a:spcBef>
                  <a:spcPts val="805"/>
                </a:spcBef>
                <a:spcAft>
                  <a:spcPts val="0"/>
                </a:spcAft>
                <a:buClr>
                  <a:schemeClr val="lt1"/>
                </a:buClr>
                <a:buSzPts val="1800"/>
                <a:buFont typeface="Calibri"/>
                <a:buChar char="•"/>
              </a:pPr>
              <a:r>
                <a:rPr lang="es-CL" sz="1800" b="0" i="0" u="none" strike="noStrike" cap="none">
                  <a:solidFill>
                    <a:schemeClr val="lt1"/>
                  </a:solidFill>
                  <a:latin typeface="Calibri"/>
                  <a:ea typeface="Calibri"/>
                  <a:cs typeface="Calibri"/>
                  <a:sym typeface="Calibri"/>
                </a:rPr>
                <a:t>Desarrollador Fullstack</a:t>
              </a:r>
              <a:endParaRPr/>
            </a:p>
            <a:p>
              <a:pPr marL="171450" marR="0" lvl="1" indent="-171450" algn="l" rtl="0">
                <a:lnSpc>
                  <a:spcPct val="90000"/>
                </a:lnSpc>
                <a:spcBef>
                  <a:spcPts val="270"/>
                </a:spcBef>
                <a:spcAft>
                  <a:spcPts val="0"/>
                </a:spcAft>
                <a:buClr>
                  <a:schemeClr val="lt1"/>
                </a:buClr>
                <a:buSzPts val="1800"/>
                <a:buFont typeface="Calibri"/>
                <a:buChar char="•"/>
              </a:pPr>
              <a:r>
                <a:rPr lang="es-CL" sz="1800" b="0" i="0" u="none" strike="noStrike" cap="none">
                  <a:solidFill>
                    <a:schemeClr val="lt1"/>
                  </a:solidFill>
                  <a:latin typeface="Calibri"/>
                  <a:ea typeface="Calibri"/>
                  <a:cs typeface="Calibri"/>
                  <a:sym typeface="Calibri"/>
                </a:rPr>
                <a:t>Desarrollo frontend, diseño ux/ui, despliegues</a:t>
              </a:r>
              <a:endParaRPr sz="1800" b="0" i="0" u="none" strike="noStrike" cap="none">
                <a:solidFill>
                  <a:schemeClr val="lt1"/>
                </a:solidFill>
                <a:latin typeface="Calibri"/>
                <a:ea typeface="Calibri"/>
                <a:cs typeface="Calibri"/>
                <a:sym typeface="Calibri"/>
              </a:endParaRPr>
            </a:p>
          </p:txBody>
        </p:sp>
        <p:sp>
          <p:nvSpPr>
            <p:cNvPr id="97" name="Google Shape;97;p2"/>
            <p:cNvSpPr/>
            <p:nvPr/>
          </p:nvSpPr>
          <p:spPr>
            <a:xfrm>
              <a:off x="135954" y="1631457"/>
              <a:ext cx="1526698" cy="1087638"/>
            </a:xfrm>
            <a:prstGeom prst="roundRect">
              <a:avLst>
                <a:gd name="adj" fmla="val 10000"/>
              </a:avLst>
            </a:prstGeom>
            <a:solidFill>
              <a:srgbClr val="C3D4EB"/>
            </a:soli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0" y="2991005"/>
              <a:ext cx="7633494" cy="1359548"/>
            </a:xfrm>
            <a:prstGeom prst="roundRect">
              <a:avLst>
                <a:gd name="adj" fmla="val 10000"/>
              </a:avLst>
            </a:prstGeom>
            <a:gradFill>
              <a:gsLst>
                <a:gs pos="0">
                  <a:srgbClr val="6EA5DA"/>
                </a:gs>
                <a:gs pos="50000">
                  <a:srgbClr val="529BDA"/>
                </a:gs>
                <a:gs pos="100000">
                  <a:srgbClr val="4188C8"/>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txBox="1"/>
            <p:nvPr/>
          </p:nvSpPr>
          <p:spPr>
            <a:xfrm>
              <a:off x="1662653" y="2991005"/>
              <a:ext cx="5970840" cy="1359548"/>
            </a:xfrm>
            <a:prstGeom prst="rect">
              <a:avLst/>
            </a:prstGeom>
            <a:noFill/>
            <a:ln>
              <a:noFill/>
            </a:ln>
          </p:spPr>
          <p:txBody>
            <a:bodyPr spcFirstLastPara="1" wrap="square" lIns="87625" tIns="87625" rIns="87625" bIns="87625" anchor="t" anchorCtr="0">
              <a:noAutofit/>
            </a:bodyPr>
            <a:lstStyle/>
            <a:p>
              <a:pPr marL="0" marR="0" lvl="0" indent="0" algn="l" rtl="0">
                <a:lnSpc>
                  <a:spcPct val="90000"/>
                </a:lnSpc>
                <a:spcBef>
                  <a:spcPts val="0"/>
                </a:spcBef>
                <a:spcAft>
                  <a:spcPts val="0"/>
                </a:spcAft>
                <a:buClr>
                  <a:schemeClr val="lt1"/>
                </a:buClr>
                <a:buSzPts val="2300"/>
                <a:buFont typeface="Calibri"/>
                <a:buNone/>
              </a:pPr>
              <a:r>
                <a:rPr lang="es-CL" sz="2300" b="0" i="0" u="none" strike="noStrike" cap="none">
                  <a:solidFill>
                    <a:schemeClr val="lt1"/>
                  </a:solidFill>
                  <a:latin typeface="Calibri"/>
                  <a:ea typeface="Calibri"/>
                  <a:cs typeface="Calibri"/>
                  <a:sym typeface="Calibri"/>
                </a:rPr>
                <a:t>Diego de la Sotta</a:t>
              </a:r>
              <a:endParaRPr sz="2300" b="0" i="0" u="none" strike="noStrike" cap="none">
                <a:solidFill>
                  <a:schemeClr val="lt1"/>
                </a:solidFill>
                <a:latin typeface="Calibri"/>
                <a:ea typeface="Calibri"/>
                <a:cs typeface="Calibri"/>
                <a:sym typeface="Calibri"/>
              </a:endParaRPr>
            </a:p>
            <a:p>
              <a:pPr marL="171450" marR="0" lvl="1" indent="-171450" algn="l" rtl="0">
                <a:lnSpc>
                  <a:spcPct val="90000"/>
                </a:lnSpc>
                <a:spcBef>
                  <a:spcPts val="805"/>
                </a:spcBef>
                <a:spcAft>
                  <a:spcPts val="0"/>
                </a:spcAft>
                <a:buClr>
                  <a:schemeClr val="lt1"/>
                </a:buClr>
                <a:buSzPts val="1800"/>
                <a:buFont typeface="Calibri"/>
                <a:buChar char="•"/>
              </a:pPr>
              <a:r>
                <a:rPr lang="es-CL" sz="1800" b="0" i="0" u="none" strike="noStrike" cap="none">
                  <a:solidFill>
                    <a:schemeClr val="lt1"/>
                  </a:solidFill>
                  <a:latin typeface="Calibri"/>
                  <a:ea typeface="Calibri"/>
                  <a:cs typeface="Calibri"/>
                  <a:sym typeface="Calibri"/>
                </a:rPr>
                <a:t>Desarrollador Fullstack</a:t>
              </a:r>
              <a:endParaRPr/>
            </a:p>
            <a:p>
              <a:pPr marL="171450" marR="0" lvl="1" indent="-171450" algn="l" rtl="0">
                <a:lnSpc>
                  <a:spcPct val="90000"/>
                </a:lnSpc>
                <a:spcBef>
                  <a:spcPts val="270"/>
                </a:spcBef>
                <a:spcAft>
                  <a:spcPts val="0"/>
                </a:spcAft>
                <a:buClr>
                  <a:schemeClr val="lt1"/>
                </a:buClr>
                <a:buSzPts val="1800"/>
                <a:buFont typeface="Calibri"/>
                <a:buChar char="•"/>
              </a:pPr>
              <a:r>
                <a:rPr lang="es-CL" sz="1800" b="0" i="0" u="none" strike="noStrike" cap="none">
                  <a:solidFill>
                    <a:schemeClr val="lt1"/>
                  </a:solidFill>
                  <a:latin typeface="Calibri"/>
                  <a:ea typeface="Calibri"/>
                  <a:cs typeface="Calibri"/>
                  <a:sym typeface="Calibri"/>
                </a:rPr>
                <a:t>Desarrollo frontend, documentación, diseño</a:t>
              </a:r>
              <a:endParaRPr sz="1800" b="0" i="0" u="none" strike="noStrike" cap="none">
                <a:solidFill>
                  <a:schemeClr val="lt1"/>
                </a:solidFill>
                <a:latin typeface="Calibri"/>
                <a:ea typeface="Calibri"/>
                <a:cs typeface="Calibri"/>
                <a:sym typeface="Calibri"/>
              </a:endParaRPr>
            </a:p>
          </p:txBody>
        </p:sp>
        <p:sp>
          <p:nvSpPr>
            <p:cNvPr id="100" name="Google Shape;100;p2"/>
            <p:cNvSpPr/>
            <p:nvPr/>
          </p:nvSpPr>
          <p:spPr>
            <a:xfrm>
              <a:off x="135954" y="3126960"/>
              <a:ext cx="1526698" cy="1087638"/>
            </a:xfrm>
            <a:prstGeom prst="roundRect">
              <a:avLst>
                <a:gd name="adj" fmla="val 10000"/>
              </a:avLst>
            </a:prstGeom>
            <a:solidFill>
              <a:srgbClr val="C3D4EB"/>
            </a:soli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 name="Google Shape;101;p2"/>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b="0" i="0" u="none" strike="noStrike" cap="none">
                <a:solidFill>
                  <a:srgbClr val="757070"/>
                </a:solidFill>
                <a:latin typeface="Calibri"/>
                <a:ea typeface="Calibri"/>
                <a:cs typeface="Calibri"/>
                <a:sym typeface="Calibri"/>
              </a:rPr>
              <a:t>PROYECTO “CARTRACK”</a:t>
            </a:r>
            <a:endParaRPr/>
          </a:p>
        </p:txBody>
      </p:sp>
      <p:sp>
        <p:nvSpPr>
          <p:cNvPr id="102" name="Google Shape;102;p2"/>
          <p:cNvSpPr txBox="1"/>
          <p:nvPr/>
        </p:nvSpPr>
        <p:spPr>
          <a:xfrm>
            <a:off x="238327" y="3058616"/>
            <a:ext cx="3608961"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INTEGRANTES DEL PROYECTO</a:t>
            </a:r>
            <a:endParaRPr sz="1800">
              <a:solidFill>
                <a:schemeClr val="dk1"/>
              </a:solidFill>
              <a:latin typeface="Calibri"/>
              <a:ea typeface="Calibri"/>
              <a:cs typeface="Calibri"/>
              <a:sym typeface="Calibri"/>
            </a:endParaRPr>
          </a:p>
        </p:txBody>
      </p:sp>
      <p:cxnSp>
        <p:nvCxnSpPr>
          <p:cNvPr id="103" name="Google Shape;103;p2"/>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3"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09" name="Google Shape;109;p3"/>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“CARTRACK”</a:t>
            </a:r>
            <a:endParaRPr/>
          </a:p>
        </p:txBody>
      </p:sp>
      <p:sp>
        <p:nvSpPr>
          <p:cNvPr id="110" name="Google Shape;110;p3"/>
          <p:cNvSpPr txBox="1"/>
          <p:nvPr/>
        </p:nvSpPr>
        <p:spPr>
          <a:xfrm>
            <a:off x="0" y="1130849"/>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DESCRIPCIÓN DEL PROYECTO</a:t>
            </a:r>
            <a:endParaRPr sz="1800">
              <a:solidFill>
                <a:schemeClr val="dk1"/>
              </a:solidFill>
              <a:latin typeface="Calibri"/>
              <a:ea typeface="Calibri"/>
              <a:cs typeface="Calibri"/>
              <a:sym typeface="Calibri"/>
            </a:endParaRPr>
          </a:p>
        </p:txBody>
      </p:sp>
      <p:cxnSp>
        <p:nvCxnSpPr>
          <p:cNvPr id="111" name="Google Shape;111;p3"/>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
        <p:nvSpPr>
          <p:cNvPr id="112" name="Google Shape;112;p3"/>
          <p:cNvSpPr/>
          <p:nvPr/>
        </p:nvSpPr>
        <p:spPr>
          <a:xfrm>
            <a:off x="714909" y="2169769"/>
            <a:ext cx="4348705" cy="4092601"/>
          </a:xfrm>
          <a:prstGeom prst="roundRect">
            <a:avLst>
              <a:gd name="adj" fmla="val 10901"/>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CL" sz="2800" u="sng">
                <a:solidFill>
                  <a:schemeClr val="dk1"/>
                </a:solidFill>
                <a:latin typeface="Calibri"/>
                <a:ea typeface="Calibri"/>
                <a:cs typeface="Calibri"/>
                <a:sym typeface="Calibri"/>
              </a:rPr>
              <a:t>Problema o dolor</a:t>
            </a:r>
            <a:endParaRPr sz="1800" u="sng">
              <a:solidFill>
                <a:schemeClr val="dk1"/>
              </a:solidFill>
              <a:latin typeface="Calibri"/>
              <a:ea typeface="Calibri"/>
              <a:cs typeface="Calibri"/>
              <a:sym typeface="Calibri"/>
            </a:endParaRPr>
          </a:p>
          <a:p>
            <a:pPr marL="0" marR="0" lvl="0" indent="0" algn="just" rtl="0">
              <a:spcBef>
                <a:spcPts val="0"/>
              </a:spcBef>
              <a:spcAft>
                <a:spcPts val="0"/>
              </a:spcAft>
              <a:buNone/>
            </a:pPr>
            <a:r>
              <a:rPr lang="es-CL" sz="1800">
                <a:solidFill>
                  <a:schemeClr val="dk1"/>
                </a:solidFill>
                <a:latin typeface="Calibri"/>
                <a:ea typeface="Calibri"/>
                <a:cs typeface="Calibri"/>
                <a:sym typeface="Calibri"/>
              </a:rPr>
              <a:t>Los propietarios de vehículos enfrentan dificultades para organizar la información de sus autos, controlar gastos y gestionar documentación. Además, la verificación de historiales en autos usados es poco confiable debido al fraude frecuente. Esto provoca pérdidas económicas, riesgos en la compraventa, tiempo perdido en gestiones manuales y una creciente desconfianza en el mercado de vehículos usados</a:t>
            </a:r>
            <a:endParaRPr sz="1800">
              <a:solidFill>
                <a:schemeClr val="dk1"/>
              </a:solidFill>
              <a:latin typeface="Calibri"/>
              <a:ea typeface="Calibri"/>
              <a:cs typeface="Calibri"/>
              <a:sym typeface="Calibri"/>
            </a:endParaRPr>
          </a:p>
          <a:p>
            <a:pPr marL="0" marR="0" lvl="0" indent="0" algn="ctr" rtl="0">
              <a:spcBef>
                <a:spcPts val="0"/>
              </a:spcBef>
              <a:spcAft>
                <a:spcPts val="0"/>
              </a:spcAft>
              <a:buNone/>
            </a:pPr>
            <a:endParaRPr sz="1800" u="sng">
              <a:solidFill>
                <a:schemeClr val="dk1"/>
              </a:solidFill>
              <a:latin typeface="Calibri"/>
              <a:ea typeface="Calibri"/>
              <a:cs typeface="Calibri"/>
              <a:sym typeface="Calibri"/>
            </a:endParaRPr>
          </a:p>
        </p:txBody>
      </p:sp>
      <p:sp>
        <p:nvSpPr>
          <p:cNvPr id="113" name="Google Shape;113;p3"/>
          <p:cNvSpPr/>
          <p:nvPr/>
        </p:nvSpPr>
        <p:spPr>
          <a:xfrm>
            <a:off x="6912079" y="2177325"/>
            <a:ext cx="4348705" cy="4092601"/>
          </a:xfrm>
          <a:prstGeom prst="roundRect">
            <a:avLst>
              <a:gd name="adj" fmla="val 10901"/>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CL" sz="2800" u="sng">
                <a:solidFill>
                  <a:schemeClr val="dk1"/>
                </a:solidFill>
                <a:latin typeface="Calibri"/>
                <a:ea typeface="Calibri"/>
                <a:cs typeface="Calibri"/>
                <a:sym typeface="Calibri"/>
              </a:rPr>
              <a:t>Propuesta de solución</a:t>
            </a:r>
            <a:endParaRPr/>
          </a:p>
          <a:p>
            <a:pPr marL="0" marR="0" lvl="0" indent="0" algn="ctr" rtl="0">
              <a:spcBef>
                <a:spcPts val="0"/>
              </a:spcBef>
              <a:spcAft>
                <a:spcPts val="0"/>
              </a:spcAft>
              <a:buNone/>
            </a:pPr>
            <a:endParaRPr sz="1800" u="sng">
              <a:solidFill>
                <a:schemeClr val="dk1"/>
              </a:solidFill>
              <a:latin typeface="Calibri"/>
              <a:ea typeface="Calibri"/>
              <a:cs typeface="Calibri"/>
              <a:sym typeface="Calibri"/>
            </a:endParaRPr>
          </a:p>
          <a:p>
            <a:pPr marL="0" marR="0" lvl="0" indent="0" algn="just" rtl="0">
              <a:spcBef>
                <a:spcPts val="0"/>
              </a:spcBef>
              <a:spcAft>
                <a:spcPts val="0"/>
              </a:spcAft>
              <a:buNone/>
            </a:pPr>
            <a:r>
              <a:rPr lang="es-CL" sz="1800">
                <a:solidFill>
                  <a:schemeClr val="dk1"/>
                </a:solidFill>
                <a:latin typeface="Calibri"/>
                <a:ea typeface="Calibri"/>
                <a:cs typeface="Calibri"/>
                <a:sym typeface="Calibri"/>
              </a:rPr>
              <a:t>El desarrollo de  una aplicación web que centraliza toda la información del vehículo, automatiza la gestión de vehículos personales, y ofrece análisis claros de gastos y mantenimientos. Además, facilita transacciones seguras con historiales verificables y controles de acceso robustos, generando confianza en todo el proceso de gestión y compraventa</a:t>
            </a:r>
            <a:endParaRPr sz="1800">
              <a:solidFill>
                <a:schemeClr val="dk1"/>
              </a:solidFill>
              <a:latin typeface="Calibri"/>
              <a:ea typeface="Calibri"/>
              <a:cs typeface="Calibri"/>
              <a:sym typeface="Calibri"/>
            </a:endParaRPr>
          </a:p>
        </p:txBody>
      </p:sp>
      <p:sp>
        <p:nvSpPr>
          <p:cNvPr id="114" name="Google Shape;114;p3"/>
          <p:cNvSpPr/>
          <p:nvPr/>
        </p:nvSpPr>
        <p:spPr>
          <a:xfrm>
            <a:off x="5456903" y="3736258"/>
            <a:ext cx="1140542" cy="757084"/>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fade">
                                      <p:cBhvr>
                                        <p:cTn id="7" dur="500"/>
                                        <p:tgtEl>
                                          <p:spTgt spid="1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4"/>
                                        </p:tgtEl>
                                        <p:attrNameLst>
                                          <p:attrName>style.visibility</p:attrName>
                                        </p:attrNameLst>
                                      </p:cBhvr>
                                      <p:to>
                                        <p:strVal val="visible"/>
                                      </p:to>
                                    </p:set>
                                    <p:animEffect transition="in" filter="fade">
                                      <p:cBhvr>
                                        <p:cTn id="12" dur="500"/>
                                        <p:tgtEl>
                                          <p:spTgt spid="114"/>
                                        </p:tgtEl>
                                      </p:cBhvr>
                                    </p:animEffect>
                                  </p:childTnLst>
                                </p:cTn>
                              </p:par>
                              <p:par>
                                <p:cTn id="13" presetID="10" presetClass="entr" presetSubtype="0" fill="hold" nodeType="withEffect">
                                  <p:stCondLst>
                                    <p:cond delay="0"/>
                                  </p:stCondLst>
                                  <p:childTnLst>
                                    <p:set>
                                      <p:cBhvr>
                                        <p:cTn id="14" dur="1" fill="hold">
                                          <p:stCondLst>
                                            <p:cond delay="0"/>
                                          </p:stCondLst>
                                        </p:cTn>
                                        <p:tgtEl>
                                          <p:spTgt spid="113"/>
                                        </p:tgtEl>
                                        <p:attrNameLst>
                                          <p:attrName>style.visibility</p:attrName>
                                        </p:attrNameLst>
                                      </p:cBhvr>
                                      <p:to>
                                        <p:strVal val="visible"/>
                                      </p:to>
                                    </p:set>
                                    <p:animEffect transition="in" filter="fade">
                                      <p:cBhvr>
                                        <p:cTn id="15" dur="5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19" name="Google Shape;119;p4"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20" name="Google Shape;120;p4"/>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“CARTRACK”</a:t>
            </a:r>
            <a:endParaRPr/>
          </a:p>
        </p:txBody>
      </p:sp>
      <p:sp>
        <p:nvSpPr>
          <p:cNvPr id="121" name="Google Shape;121;p4"/>
          <p:cNvSpPr txBox="1"/>
          <p:nvPr/>
        </p:nvSpPr>
        <p:spPr>
          <a:xfrm>
            <a:off x="0" y="1384304"/>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Objetivo General</a:t>
            </a:r>
            <a:endParaRPr sz="1800">
              <a:solidFill>
                <a:schemeClr val="dk1"/>
              </a:solidFill>
              <a:latin typeface="Calibri"/>
              <a:ea typeface="Calibri"/>
              <a:cs typeface="Calibri"/>
              <a:sym typeface="Calibri"/>
            </a:endParaRPr>
          </a:p>
        </p:txBody>
      </p:sp>
      <p:cxnSp>
        <p:nvCxnSpPr>
          <p:cNvPr id="122" name="Google Shape;122;p4"/>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
        <p:nvSpPr>
          <p:cNvPr id="123" name="Google Shape;123;p4"/>
          <p:cNvSpPr txBox="1"/>
          <p:nvPr/>
        </p:nvSpPr>
        <p:spPr>
          <a:xfrm>
            <a:off x="1" y="4082446"/>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Objetivos Específicos</a:t>
            </a:r>
            <a:endParaRPr sz="1800">
              <a:solidFill>
                <a:schemeClr val="dk1"/>
              </a:solidFill>
              <a:latin typeface="Calibri"/>
              <a:ea typeface="Calibri"/>
              <a:cs typeface="Calibri"/>
              <a:sym typeface="Calibri"/>
            </a:endParaRPr>
          </a:p>
        </p:txBody>
      </p:sp>
      <p:sp>
        <p:nvSpPr>
          <p:cNvPr id="124" name="Google Shape;124;p4"/>
          <p:cNvSpPr/>
          <p:nvPr/>
        </p:nvSpPr>
        <p:spPr>
          <a:xfrm>
            <a:off x="614515" y="2040571"/>
            <a:ext cx="10962967" cy="1575221"/>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CL" sz="1600" i="1">
                <a:solidFill>
                  <a:schemeClr val="dk1"/>
                </a:solidFill>
                <a:latin typeface="Calibri"/>
                <a:ea typeface="Calibri"/>
                <a:cs typeface="Calibri"/>
                <a:sym typeface="Calibri"/>
              </a:rPr>
              <a:t>Desarrollar una aplicación web responsiva con sistema de trazabilidad que centralice la gestión integral de información vehicular, incorporando funcionalidades de análisis de datos, gestión de gastos, compartición transparente de información y transferencia de propiedad con historial verificable para optimizar la experiencia y decisiones de los propietarios de vehículos</a:t>
            </a:r>
            <a:endParaRPr sz="1600">
              <a:solidFill>
                <a:schemeClr val="dk1"/>
              </a:solidFill>
              <a:latin typeface="Calibri"/>
              <a:ea typeface="Calibri"/>
              <a:cs typeface="Calibri"/>
              <a:sym typeface="Calibri"/>
            </a:endParaRPr>
          </a:p>
        </p:txBody>
      </p:sp>
      <p:sp>
        <p:nvSpPr>
          <p:cNvPr id="125" name="Google Shape;125;p4"/>
          <p:cNvSpPr/>
          <p:nvPr/>
        </p:nvSpPr>
        <p:spPr>
          <a:xfrm>
            <a:off x="614514" y="4732407"/>
            <a:ext cx="10962967" cy="1575221"/>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CL" sz="1600" b="1">
                <a:solidFill>
                  <a:schemeClr val="dk1"/>
                </a:solidFill>
                <a:latin typeface="Calibri"/>
                <a:ea typeface="Calibri"/>
                <a:cs typeface="Calibri"/>
                <a:sym typeface="Calibri"/>
              </a:rPr>
              <a:t>✔️</a:t>
            </a:r>
            <a:r>
              <a:rPr lang="es-CL" sz="1600">
                <a:solidFill>
                  <a:schemeClr val="dk1"/>
                </a:solidFill>
                <a:latin typeface="Calibri"/>
                <a:ea typeface="Calibri"/>
                <a:cs typeface="Calibri"/>
                <a:sym typeface="Calibri"/>
              </a:rPr>
              <a:t> La solución propone un sistema que permita a cada usuario registrar y gestionar múltiples vehículos con trazabilidad completa, almacenamiento seguro de documentos y vinculación automática de toda la información. </a:t>
            </a:r>
            <a:r>
              <a:rPr lang="es-CL" sz="1600" b="1">
                <a:solidFill>
                  <a:schemeClr val="dk1"/>
                </a:solidFill>
                <a:latin typeface="Calibri"/>
                <a:ea typeface="Calibri"/>
                <a:cs typeface="Calibri"/>
                <a:sym typeface="Calibri"/>
              </a:rPr>
              <a:t>✔️</a:t>
            </a:r>
            <a:r>
              <a:rPr lang="es-CL" sz="1600">
                <a:solidFill>
                  <a:schemeClr val="dk1"/>
                </a:solidFill>
                <a:latin typeface="Calibri"/>
                <a:ea typeface="Calibri"/>
                <a:cs typeface="Calibri"/>
                <a:sym typeface="Calibri"/>
              </a:rPr>
              <a:t> Incluye módulos para seguimiento de mantenimientos, gastos y trámites legales. </a:t>
            </a:r>
            <a:r>
              <a:rPr lang="es-CL" sz="1600" b="1">
                <a:solidFill>
                  <a:schemeClr val="dk1"/>
                </a:solidFill>
                <a:latin typeface="Calibri"/>
                <a:ea typeface="Calibri"/>
                <a:cs typeface="Calibri"/>
                <a:sym typeface="Calibri"/>
              </a:rPr>
              <a:t>✔️</a:t>
            </a:r>
            <a:r>
              <a:rPr lang="es-CL" sz="1600">
                <a:solidFill>
                  <a:schemeClr val="dk1"/>
                </a:solidFill>
                <a:latin typeface="Calibri"/>
                <a:ea typeface="Calibri"/>
                <a:cs typeface="Calibri"/>
                <a:sym typeface="Calibri"/>
              </a:rPr>
              <a:t> Ofrece dashboards para analizar datos mediante gráficos y tendencias. </a:t>
            </a:r>
            <a:endParaRPr/>
          </a:p>
          <a:p>
            <a:pPr marL="0" marR="0" lvl="0" indent="0" algn="ctr" rtl="0">
              <a:spcBef>
                <a:spcPts val="0"/>
              </a:spcBef>
              <a:spcAft>
                <a:spcPts val="0"/>
              </a:spcAft>
              <a:buNone/>
            </a:pPr>
            <a:r>
              <a:rPr lang="es-CL" sz="1600" b="1">
                <a:solidFill>
                  <a:schemeClr val="dk1"/>
                </a:solidFill>
                <a:latin typeface="Calibri"/>
                <a:ea typeface="Calibri"/>
                <a:cs typeface="Calibri"/>
                <a:sym typeface="Calibri"/>
              </a:rPr>
              <a:t>✔️</a:t>
            </a:r>
            <a:r>
              <a:rPr lang="es-CL" sz="1600">
                <a:solidFill>
                  <a:schemeClr val="dk1"/>
                </a:solidFill>
                <a:latin typeface="Calibri"/>
                <a:ea typeface="Calibri"/>
                <a:cs typeface="Calibri"/>
                <a:sym typeface="Calibri"/>
              </a:rPr>
              <a:t> Además de reportes personalizados exportables en PDF. </a:t>
            </a:r>
            <a:r>
              <a:rPr lang="es-CL" sz="1600" b="1">
                <a:solidFill>
                  <a:schemeClr val="dk1"/>
                </a:solidFill>
                <a:latin typeface="Calibri"/>
                <a:ea typeface="Calibri"/>
                <a:cs typeface="Calibri"/>
                <a:sym typeface="Calibri"/>
              </a:rPr>
              <a:t>✔️</a:t>
            </a:r>
            <a:r>
              <a:rPr lang="es-CL" sz="1600">
                <a:solidFill>
                  <a:schemeClr val="dk1"/>
                </a:solidFill>
                <a:latin typeface="Calibri"/>
                <a:ea typeface="Calibri"/>
                <a:cs typeface="Calibri"/>
                <a:sym typeface="Calibri"/>
              </a:rPr>
              <a:t> También integra un sistema de compartición segura mediante códigos QR. </a:t>
            </a:r>
            <a:r>
              <a:rPr lang="es-CL" sz="1600" b="1">
                <a:solidFill>
                  <a:schemeClr val="dk1"/>
                </a:solidFill>
                <a:latin typeface="Calibri"/>
                <a:ea typeface="Calibri"/>
                <a:cs typeface="Calibri"/>
                <a:sym typeface="Calibri"/>
              </a:rPr>
              <a:t>6.</a:t>
            </a:r>
            <a:r>
              <a:rPr lang="es-CL" sz="1600">
                <a:solidFill>
                  <a:schemeClr val="dk1"/>
                </a:solidFill>
                <a:latin typeface="Calibri"/>
                <a:ea typeface="Calibri"/>
                <a:cs typeface="Calibri"/>
                <a:sym typeface="Calibri"/>
              </a:rPr>
              <a:t> una función de transferencia de vehículos entre usuarios manteniendo intacto el historial completo</a:t>
            </a:r>
            <a:r>
              <a:rPr lang="es-CL"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fade">
                                      <p:cBhvr>
                                        <p:cTn id="7" dur="500"/>
                                        <p:tgtEl>
                                          <p:spTgt spid="123"/>
                                        </p:tgtEl>
                                      </p:cBhvr>
                                    </p:animEffect>
                                  </p:childTnLst>
                                </p:cTn>
                              </p:par>
                              <p:par>
                                <p:cTn id="8" presetID="10" presetClass="entr" presetSubtype="0" fill="hold" nodeType="withEffect">
                                  <p:stCondLst>
                                    <p:cond delay="0"/>
                                  </p:stCondLst>
                                  <p:childTnLst>
                                    <p:set>
                                      <p:cBhvr>
                                        <p:cTn id="9" dur="1" fill="hold">
                                          <p:stCondLst>
                                            <p:cond delay="0"/>
                                          </p:stCondLst>
                                        </p:cTn>
                                        <p:tgtEl>
                                          <p:spTgt spid="125"/>
                                        </p:tgtEl>
                                        <p:attrNameLst>
                                          <p:attrName>style.visibility</p:attrName>
                                        </p:attrNameLst>
                                      </p:cBhvr>
                                      <p:to>
                                        <p:strVal val="visible"/>
                                      </p:to>
                                    </p:set>
                                    <p:animEffect transition="in" filter="fade">
                                      <p:cBhvr>
                                        <p:cTn id="10"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g390e870e1cf_0_56"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31" name="Google Shape;131;g390e870e1cf_0_56"/>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“CARTRACK”</a:t>
            </a:r>
            <a:endParaRPr/>
          </a:p>
        </p:txBody>
      </p:sp>
      <p:sp>
        <p:nvSpPr>
          <p:cNvPr id="132" name="Google Shape;132;g390e870e1cf_0_56"/>
          <p:cNvSpPr txBox="1"/>
          <p:nvPr/>
        </p:nvSpPr>
        <p:spPr>
          <a:xfrm>
            <a:off x="0" y="1432655"/>
            <a:ext cx="121920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Alcances y limitaciones del proyecto</a:t>
            </a:r>
            <a:endParaRPr/>
          </a:p>
        </p:txBody>
      </p:sp>
      <p:cxnSp>
        <p:nvCxnSpPr>
          <p:cNvPr id="133" name="Google Shape;133;g390e870e1cf_0_56"/>
          <p:cNvCxnSpPr/>
          <p:nvPr/>
        </p:nvCxnSpPr>
        <p:spPr>
          <a:xfrm>
            <a:off x="0" y="758027"/>
            <a:ext cx="4085700" cy="0"/>
          </a:xfrm>
          <a:prstGeom prst="straightConnector1">
            <a:avLst/>
          </a:prstGeom>
          <a:noFill/>
          <a:ln w="15875" cap="flat" cmpd="sng">
            <a:solidFill>
              <a:srgbClr val="F5F7FC"/>
            </a:solidFill>
            <a:prstDash val="solid"/>
            <a:miter lim="800000"/>
            <a:headEnd type="none" w="sm" len="sm"/>
            <a:tailEnd type="none" w="sm" len="sm"/>
          </a:ln>
        </p:spPr>
      </p:cxnSp>
      <p:graphicFrame>
        <p:nvGraphicFramePr>
          <p:cNvPr id="134" name="Google Shape;134;g390e870e1cf_0_56"/>
          <p:cNvGraphicFramePr/>
          <p:nvPr/>
        </p:nvGraphicFramePr>
        <p:xfrm>
          <a:off x="571500" y="2146575"/>
          <a:ext cx="11049000" cy="3128201"/>
        </p:xfrm>
        <a:graphic>
          <a:graphicData uri="http://schemas.openxmlformats.org/drawingml/2006/table">
            <a:tbl>
              <a:tblPr>
                <a:solidFill>
                  <a:srgbClr val="FFFFFF"/>
                </a:solidFill>
                <a:tableStyleId>{5B31E44A-B6BE-4C56-A256-951C69883386}</a:tableStyleId>
              </a:tblPr>
              <a:tblGrid>
                <a:gridCol w="5038725">
                  <a:extLst>
                    <a:ext uri="{9D8B030D-6E8A-4147-A177-3AD203B41FA5}">
                      <a16:colId xmlns:a16="http://schemas.microsoft.com/office/drawing/2014/main" val="20000"/>
                    </a:ext>
                  </a:extLst>
                </a:gridCol>
                <a:gridCol w="6010275">
                  <a:extLst>
                    <a:ext uri="{9D8B030D-6E8A-4147-A177-3AD203B41FA5}">
                      <a16:colId xmlns:a16="http://schemas.microsoft.com/office/drawing/2014/main" val="20001"/>
                    </a:ext>
                  </a:extLst>
                </a:gridCol>
              </a:tblGrid>
              <a:tr h="514350">
                <a:tc>
                  <a:txBody>
                    <a:bodyPr/>
                    <a:lstStyle/>
                    <a:p>
                      <a:pPr marL="0" lvl="0" indent="0" algn="l" rtl="0">
                        <a:lnSpc>
                          <a:spcPct val="115000"/>
                        </a:lnSpc>
                        <a:spcBef>
                          <a:spcPts val="0"/>
                        </a:spcBef>
                        <a:spcAft>
                          <a:spcPts val="0"/>
                        </a:spcAft>
                        <a:buClr>
                          <a:schemeClr val="dk1"/>
                        </a:buClr>
                        <a:buSzPts val="1100"/>
                        <a:buFont typeface="Arial"/>
                        <a:buNone/>
                      </a:pPr>
                      <a:r>
                        <a:rPr lang="es-CL" sz="1450" b="1">
                          <a:solidFill>
                            <a:schemeClr val="lt1"/>
                          </a:solidFill>
                          <a:highlight>
                            <a:srgbClr val="003366"/>
                          </a:highlight>
                        </a:rPr>
                        <a:t>Alcances</a:t>
                      </a:r>
                      <a:endParaRPr sz="1350" b="1">
                        <a:solidFill>
                          <a:srgbClr val="FFFFFF"/>
                        </a:solidFill>
                        <a:highlight>
                          <a:srgbClr val="FFFFFF"/>
                        </a:highlight>
                      </a:endParaRPr>
                    </a:p>
                  </a:txBody>
                  <a:tcPr marL="190500" marR="190500" marT="152400" marB="152400">
                    <a:lnB w="9525" cap="flat" cmpd="sng">
                      <a:solidFill>
                        <a:srgbClr val="E2E8F0"/>
                      </a:solidFill>
                      <a:prstDash val="solid"/>
                      <a:round/>
                      <a:headEnd type="none" w="sm" len="sm"/>
                      <a:tailEnd type="none" w="sm" len="sm"/>
                    </a:lnB>
                    <a:solidFill>
                      <a:srgbClr val="003366"/>
                    </a:solidFill>
                  </a:tcPr>
                </a:tc>
                <a:tc>
                  <a:txBody>
                    <a:bodyPr/>
                    <a:lstStyle/>
                    <a:p>
                      <a:pPr marL="0" lvl="0" indent="0" algn="l" rtl="0">
                        <a:lnSpc>
                          <a:spcPct val="115000"/>
                        </a:lnSpc>
                        <a:spcBef>
                          <a:spcPts val="0"/>
                        </a:spcBef>
                        <a:spcAft>
                          <a:spcPts val="0"/>
                        </a:spcAft>
                        <a:buClr>
                          <a:schemeClr val="dk1"/>
                        </a:buClr>
                        <a:buSzPts val="1100"/>
                        <a:buFont typeface="Arial"/>
                        <a:buNone/>
                      </a:pPr>
                      <a:r>
                        <a:rPr lang="es-CL" sz="1450" b="1">
                          <a:solidFill>
                            <a:schemeClr val="lt1"/>
                          </a:solidFill>
                          <a:highlight>
                            <a:srgbClr val="003366"/>
                          </a:highlight>
                        </a:rPr>
                        <a:t>Limitaciones</a:t>
                      </a:r>
                      <a:endParaRPr sz="1350" b="1">
                        <a:solidFill>
                          <a:srgbClr val="FFFFFF"/>
                        </a:solidFill>
                        <a:highlight>
                          <a:srgbClr val="FFFFFF"/>
                        </a:highlight>
                      </a:endParaRPr>
                    </a:p>
                  </a:txBody>
                  <a:tcPr marL="190500" marR="190500" marT="152400" marB="152400">
                    <a:lnB w="9525" cap="flat" cmpd="sng">
                      <a:solidFill>
                        <a:srgbClr val="E2E8F0"/>
                      </a:solidFill>
                      <a:prstDash val="solid"/>
                      <a:round/>
                      <a:headEnd type="none" w="sm" len="sm"/>
                      <a:tailEnd type="none" w="sm" len="sm"/>
                    </a:lnB>
                    <a:solidFill>
                      <a:srgbClr val="003366"/>
                    </a:solidFill>
                  </a:tcPr>
                </a:tc>
                <a:extLst>
                  <a:ext uri="{0D108BD9-81ED-4DB2-BD59-A6C34878D82A}">
                    <a16:rowId xmlns:a16="http://schemas.microsoft.com/office/drawing/2014/main" val="10000"/>
                  </a:ext>
                </a:extLst>
              </a:tr>
              <a:tr h="485775">
                <a:tc>
                  <a:txBody>
                    <a:bodyPr/>
                    <a:lstStyle/>
                    <a:p>
                      <a:pPr marL="0" lvl="0" indent="0" algn="l" rtl="0">
                        <a:spcBef>
                          <a:spcPts val="0"/>
                        </a:spcBef>
                        <a:spcAft>
                          <a:spcPts val="0"/>
                        </a:spcAft>
                        <a:buNone/>
                      </a:pPr>
                      <a:r>
                        <a:rPr lang="es-CL">
                          <a:solidFill>
                            <a:srgbClr val="1E293B"/>
                          </a:solidFill>
                          <a:highlight>
                            <a:srgbClr val="FFFFFF"/>
                          </a:highlight>
                        </a:rPr>
                        <a:t>Gestión completa de información vehicular</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Aplicación web únicamente (no app móvil nativa)</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1"/>
                  </a:ext>
                </a:extLst>
              </a:tr>
              <a:tr h="485775">
                <a:tc>
                  <a:txBody>
                    <a:bodyPr/>
                    <a:lstStyle/>
                    <a:p>
                      <a:pPr marL="0" lvl="0" indent="0" algn="l" rtl="0">
                        <a:spcBef>
                          <a:spcPts val="0"/>
                        </a:spcBef>
                        <a:spcAft>
                          <a:spcPts val="0"/>
                        </a:spcAft>
                        <a:buNone/>
                      </a:pPr>
                      <a:r>
                        <a:rPr lang="es-CL">
                          <a:solidFill>
                            <a:srgbClr val="1E293B"/>
                          </a:solidFill>
                          <a:highlight>
                            <a:srgbClr val="FFFFFF"/>
                          </a:highlight>
                        </a:rPr>
                        <a:t>Dashboards analíticos con visualizaciones</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No incluye integración directa con talleres o aseguradoras</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2"/>
                  </a:ext>
                </a:extLst>
              </a:tr>
              <a:tr h="485775">
                <a:tc>
                  <a:txBody>
                    <a:bodyPr/>
                    <a:lstStyle/>
                    <a:p>
                      <a:pPr marL="0" lvl="0" indent="0" algn="l" rtl="0">
                        <a:spcBef>
                          <a:spcPts val="0"/>
                        </a:spcBef>
                        <a:spcAft>
                          <a:spcPts val="0"/>
                        </a:spcAft>
                        <a:buNone/>
                      </a:pPr>
                      <a:r>
                        <a:rPr lang="es-CL">
                          <a:solidFill>
                            <a:srgbClr val="1E293B"/>
                          </a:solidFill>
                          <a:highlight>
                            <a:srgbClr val="FFFFFF"/>
                          </a:highlight>
                        </a:rPr>
                        <a:t>Transferencia de vehículos con historial completo</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Sin integración con APIs de fabricantes de vehículos</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3"/>
                  </a:ext>
                </a:extLst>
              </a:tr>
              <a:tr h="485775">
                <a:tc>
                  <a:txBody>
                    <a:bodyPr/>
                    <a:lstStyle/>
                    <a:p>
                      <a:pPr marL="0" lvl="0" indent="0" algn="l" rtl="0">
                        <a:spcBef>
                          <a:spcPts val="0"/>
                        </a:spcBef>
                        <a:spcAft>
                          <a:spcPts val="0"/>
                        </a:spcAft>
                        <a:buNone/>
                      </a:pPr>
                      <a:r>
                        <a:rPr lang="es-CL">
                          <a:solidFill>
                            <a:srgbClr val="1E293B"/>
                          </a:solidFill>
                          <a:highlight>
                            <a:srgbClr val="FFFFFF"/>
                          </a:highlight>
                        </a:rPr>
                        <a:t>Exportación de reportes en PDF</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Sin funcionalidad de marketplace de compraventa integrado</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4"/>
                  </a:ext>
                </a:extLst>
              </a:tr>
              <a:tr h="485775">
                <a:tc>
                  <a:txBody>
                    <a:bodyPr/>
                    <a:lstStyle/>
                    <a:p>
                      <a:pPr marL="0" lvl="0" indent="0" algn="l" rtl="0">
                        <a:spcBef>
                          <a:spcPts val="0"/>
                        </a:spcBef>
                        <a:spcAft>
                          <a:spcPts val="0"/>
                        </a:spcAft>
                        <a:buNone/>
                      </a:pPr>
                      <a:r>
                        <a:rPr lang="es-CL">
                          <a:solidFill>
                            <a:srgbClr val="1E293B"/>
                          </a:solidFill>
                          <a:highlight>
                            <a:srgbClr val="FFFFFF"/>
                          </a:highlight>
                        </a:rPr>
                        <a:t>Autenticación y autorización basada en roles</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tcPr>
                </a:tc>
                <a:tc>
                  <a:txBody>
                    <a:bodyPr/>
                    <a:lstStyle/>
                    <a:p>
                      <a:pPr marL="0" lvl="0" indent="0" algn="l" rtl="0">
                        <a:spcBef>
                          <a:spcPts val="0"/>
                        </a:spcBef>
                        <a:spcAft>
                          <a:spcPts val="0"/>
                        </a:spcAft>
                        <a:buNone/>
                      </a:pPr>
                      <a:r>
                        <a:rPr lang="es-CL">
                          <a:solidFill>
                            <a:srgbClr val="1E293B"/>
                          </a:solidFill>
                          <a:highlight>
                            <a:srgbClr val="FFFFFF"/>
                          </a:highlight>
                        </a:rPr>
                        <a:t>Almacenamiento de documentos limitado por cuenta</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39" name="Google Shape;139;p6"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40" name="Google Shape;140;p6"/>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“CARTRACK”</a:t>
            </a:r>
            <a:endParaRPr/>
          </a:p>
        </p:txBody>
      </p:sp>
      <p:sp>
        <p:nvSpPr>
          <p:cNvPr id="141" name="Google Shape;141;p6"/>
          <p:cNvSpPr txBox="1"/>
          <p:nvPr/>
        </p:nvSpPr>
        <p:spPr>
          <a:xfrm>
            <a:off x="0" y="1432655"/>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Metodología de trabajo para el desarrollo del proyecto</a:t>
            </a:r>
            <a:endParaRPr sz="1800">
              <a:solidFill>
                <a:schemeClr val="dk1"/>
              </a:solidFill>
              <a:latin typeface="Calibri"/>
              <a:ea typeface="Calibri"/>
              <a:cs typeface="Calibri"/>
              <a:sym typeface="Calibri"/>
            </a:endParaRPr>
          </a:p>
        </p:txBody>
      </p:sp>
      <p:cxnSp>
        <p:nvCxnSpPr>
          <p:cNvPr id="142" name="Google Shape;142;p6"/>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
        <p:nvSpPr>
          <p:cNvPr id="143" name="Google Shape;143;p6"/>
          <p:cNvSpPr txBox="1"/>
          <p:nvPr/>
        </p:nvSpPr>
        <p:spPr>
          <a:xfrm>
            <a:off x="982500" y="2409700"/>
            <a:ext cx="4377600" cy="3305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CL" sz="2100" b="1">
                <a:solidFill>
                  <a:srgbClr val="003366"/>
                </a:solidFill>
              </a:rPr>
              <a:t>Metodología Base: Cascada</a:t>
            </a:r>
            <a:endParaRPr sz="2100" b="1">
              <a:solidFill>
                <a:srgbClr val="003366"/>
              </a:solidFill>
            </a:endParaRPr>
          </a:p>
          <a:p>
            <a:pPr marL="0" lvl="0" indent="0" algn="l" rtl="0">
              <a:lnSpc>
                <a:spcPct val="150000"/>
              </a:lnSpc>
              <a:spcBef>
                <a:spcPts val="1400"/>
              </a:spcBef>
              <a:spcAft>
                <a:spcPts val="0"/>
              </a:spcAft>
              <a:buNone/>
            </a:pPr>
            <a:r>
              <a:rPr lang="es-CL" sz="1350">
                <a:solidFill>
                  <a:srgbClr val="1E293B"/>
                </a:solidFill>
              </a:rPr>
              <a:t>Se utilizó el Modelo de Cascada como guía principal. Esta metodología fue pertinente ya que el proyecto contaba con requisitos claros y bien definidos desde el inicio, permitiendo una planificación secuencial estructurada y la validación de cada fase antes de iniciar la siguiente.</a:t>
            </a:r>
            <a:endParaRPr sz="1350">
              <a:solidFill>
                <a:srgbClr val="1E293B"/>
              </a:solidFill>
            </a:endParaRPr>
          </a:p>
          <a:p>
            <a:pPr marL="0" lvl="0" indent="0" algn="l" rtl="0">
              <a:lnSpc>
                <a:spcPct val="150000"/>
              </a:lnSpc>
              <a:spcBef>
                <a:spcPts val="1400"/>
              </a:spcBef>
              <a:spcAft>
                <a:spcPts val="1400"/>
              </a:spcAft>
              <a:buNone/>
            </a:pPr>
            <a:r>
              <a:rPr lang="es-CL" sz="1350" b="1">
                <a:solidFill>
                  <a:srgbClr val="1E293B"/>
                </a:solidFill>
              </a:rPr>
              <a:t>Fases:</a:t>
            </a:r>
            <a:r>
              <a:rPr lang="es-CL" sz="1350">
                <a:solidFill>
                  <a:srgbClr val="1E293B"/>
                </a:solidFill>
              </a:rPr>
              <a:t> Análisis &gt; Diseño &gt; Implementación &gt; Pruebas.</a:t>
            </a:r>
            <a:endParaRPr sz="1350">
              <a:solidFill>
                <a:srgbClr val="1E293B"/>
              </a:solidFill>
            </a:endParaRPr>
          </a:p>
        </p:txBody>
      </p:sp>
      <p:sp>
        <p:nvSpPr>
          <p:cNvPr id="144" name="Google Shape;144;p6"/>
          <p:cNvSpPr txBox="1"/>
          <p:nvPr/>
        </p:nvSpPr>
        <p:spPr>
          <a:xfrm>
            <a:off x="6614800" y="2409700"/>
            <a:ext cx="4503900" cy="3053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CL" sz="2100" b="1">
                <a:solidFill>
                  <a:srgbClr val="003366"/>
                </a:solidFill>
              </a:rPr>
              <a:t>Ajuste Estratégico: Desarrollo Paralelo</a:t>
            </a:r>
            <a:endParaRPr sz="2100" b="1">
              <a:solidFill>
                <a:srgbClr val="003366"/>
              </a:solidFill>
            </a:endParaRPr>
          </a:p>
          <a:p>
            <a:pPr marL="0" lvl="0" indent="0" algn="l" rtl="0">
              <a:lnSpc>
                <a:spcPct val="150000"/>
              </a:lnSpc>
              <a:spcBef>
                <a:spcPts val="1400"/>
              </a:spcBef>
              <a:spcAft>
                <a:spcPts val="0"/>
              </a:spcAft>
              <a:buNone/>
            </a:pPr>
            <a:r>
              <a:rPr lang="es-CL" sz="1350">
                <a:solidFill>
                  <a:srgbClr val="1E293B"/>
                </a:solidFill>
              </a:rPr>
              <a:t>Durante la fase de Implementación, se realizó un ajuste clave: se adoptó un enfoque de desarrollo en paralelo para el frontend (Angular) y el backend (Node.js).</a:t>
            </a:r>
            <a:endParaRPr sz="1350">
              <a:solidFill>
                <a:srgbClr val="1E293B"/>
              </a:solidFill>
            </a:endParaRPr>
          </a:p>
          <a:p>
            <a:pPr marL="0" lvl="0" indent="0" algn="l" rtl="0">
              <a:lnSpc>
                <a:spcPct val="150000"/>
              </a:lnSpc>
              <a:spcBef>
                <a:spcPts val="1400"/>
              </a:spcBef>
              <a:spcAft>
                <a:spcPts val="1400"/>
              </a:spcAft>
              <a:buNone/>
            </a:pPr>
            <a:r>
              <a:rPr lang="es-CL" sz="1350">
                <a:solidFill>
                  <a:srgbClr val="1E293B"/>
                </a:solidFill>
              </a:rPr>
              <a:t>Esto permitió al equipo trabajar de manera simultánea, optimizando los tiempos, aprovechando las fortalezas de cada integrante y acelerando el progreso general.</a:t>
            </a:r>
            <a:endParaRPr sz="1350">
              <a:solidFill>
                <a:srgbClr val="1E293B"/>
              </a:solidFill>
            </a:endParaRPr>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7"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50" name="Google Shape;150;p7"/>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“CARTRACK”</a:t>
            </a:r>
            <a:endParaRPr/>
          </a:p>
        </p:txBody>
      </p:sp>
      <p:sp>
        <p:nvSpPr>
          <p:cNvPr id="151" name="Google Shape;151;p7"/>
          <p:cNvSpPr txBox="1"/>
          <p:nvPr/>
        </p:nvSpPr>
        <p:spPr>
          <a:xfrm>
            <a:off x="1" y="1155656"/>
            <a:ext cx="12191999"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dirty="0">
                <a:solidFill>
                  <a:schemeClr val="dk1"/>
                </a:solidFill>
                <a:latin typeface="Calibri"/>
                <a:ea typeface="Calibri"/>
                <a:cs typeface="Calibri"/>
                <a:sym typeface="Calibri"/>
              </a:rPr>
              <a:t>Planificación Temporal</a:t>
            </a:r>
            <a:endParaRPr dirty="0"/>
          </a:p>
        </p:txBody>
      </p:sp>
      <p:cxnSp>
        <p:nvCxnSpPr>
          <p:cNvPr id="152" name="Google Shape;152;p7"/>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pic>
        <p:nvPicPr>
          <p:cNvPr id="3" name="Imagen 2" descr="Tabla&#10;&#10;El contenido generado por IA puede ser incorrecto.">
            <a:extLst>
              <a:ext uri="{FF2B5EF4-FFF2-40B4-BE49-F238E27FC236}">
                <a16:creationId xmlns:a16="http://schemas.microsoft.com/office/drawing/2014/main" id="{79F2F65A-7803-E256-3709-0B00FD937EAE}"/>
              </a:ext>
            </a:extLst>
          </p:cNvPr>
          <p:cNvPicPr>
            <a:picLocks noChangeAspect="1"/>
          </p:cNvPicPr>
          <p:nvPr/>
        </p:nvPicPr>
        <p:blipFill>
          <a:blip r:embed="rId4"/>
          <a:stretch>
            <a:fillRect/>
          </a:stretch>
        </p:blipFill>
        <p:spPr>
          <a:xfrm>
            <a:off x="390144" y="2210961"/>
            <a:ext cx="11411712" cy="2939897"/>
          </a:xfrm>
          <a:prstGeom prst="rect">
            <a:avLst/>
          </a:prstGeom>
        </p:spPr>
      </p:pic>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158" name="Google Shape;158;p8"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59" name="Google Shape;159;p8"/>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“CARTRACK”</a:t>
            </a:r>
            <a:endParaRPr/>
          </a:p>
        </p:txBody>
      </p:sp>
      <p:sp>
        <p:nvSpPr>
          <p:cNvPr id="160" name="Google Shape;160;p8"/>
          <p:cNvSpPr txBox="1"/>
          <p:nvPr/>
        </p:nvSpPr>
        <p:spPr>
          <a:xfrm>
            <a:off x="0" y="1432655"/>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Arquitectura del software</a:t>
            </a:r>
            <a:endParaRPr/>
          </a:p>
        </p:txBody>
      </p:sp>
      <p:cxnSp>
        <p:nvCxnSpPr>
          <p:cNvPr id="161" name="Google Shape;161;p8"/>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pic>
        <p:nvPicPr>
          <p:cNvPr id="162" name="Google Shape;162;p8" descr="Diagrama&#10;&#10;El contenido generado por IA puede ser incorrecto."/>
          <p:cNvPicPr preferRelativeResize="0"/>
          <p:nvPr/>
        </p:nvPicPr>
        <p:blipFill rotWithShape="1">
          <a:blip r:embed="rId4">
            <a:alphaModFix/>
          </a:blip>
          <a:srcRect/>
          <a:stretch/>
        </p:blipFill>
        <p:spPr>
          <a:xfrm>
            <a:off x="1623475" y="1963575"/>
            <a:ext cx="8865227" cy="4842275"/>
          </a:xfrm>
          <a:prstGeom prst="rect">
            <a:avLst/>
          </a:prstGeom>
          <a:noFill/>
          <a:ln>
            <a:noFill/>
          </a:ln>
        </p:spPr>
      </p:pic>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pic>
        <p:nvPicPr>
          <p:cNvPr id="167" name="Google Shape;167;p9"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68" name="Google Shape;168;p9"/>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“CARTRACK”</a:t>
            </a:r>
            <a:endParaRPr/>
          </a:p>
        </p:txBody>
      </p:sp>
      <p:sp>
        <p:nvSpPr>
          <p:cNvPr id="169" name="Google Shape;169;p9"/>
          <p:cNvSpPr txBox="1"/>
          <p:nvPr/>
        </p:nvSpPr>
        <p:spPr>
          <a:xfrm>
            <a:off x="0" y="1432655"/>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Arquitectura de la solución</a:t>
            </a:r>
            <a:endParaRPr/>
          </a:p>
        </p:txBody>
      </p:sp>
      <p:cxnSp>
        <p:nvCxnSpPr>
          <p:cNvPr id="170" name="Google Shape;170;p9"/>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pic>
        <p:nvPicPr>
          <p:cNvPr id="171" name="Google Shape;171;p9" descr="Diagrama&#10;&#10;El contenido generado por IA puede ser incorrecto."/>
          <p:cNvPicPr preferRelativeResize="0"/>
          <p:nvPr/>
        </p:nvPicPr>
        <p:blipFill rotWithShape="1">
          <a:blip r:embed="rId4">
            <a:alphaModFix/>
          </a:blip>
          <a:srcRect/>
          <a:stretch/>
        </p:blipFill>
        <p:spPr>
          <a:xfrm>
            <a:off x="2536318" y="2078986"/>
            <a:ext cx="7119363" cy="4778311"/>
          </a:xfrm>
          <a:prstGeom prst="rect">
            <a:avLst/>
          </a:prstGeom>
          <a:noFill/>
          <a:ln>
            <a:noFill/>
          </a:ln>
        </p:spPr>
      </p:pic>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77" name="Google Shape;177;p10"/>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“CARTRACK”</a:t>
            </a:r>
            <a:endParaRPr/>
          </a:p>
        </p:txBody>
      </p:sp>
      <p:sp>
        <p:nvSpPr>
          <p:cNvPr id="178" name="Google Shape;178;p10"/>
          <p:cNvSpPr txBox="1"/>
          <p:nvPr/>
        </p:nvSpPr>
        <p:spPr>
          <a:xfrm>
            <a:off x="0" y="1432655"/>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Modelo de datos</a:t>
            </a:r>
            <a:endParaRPr/>
          </a:p>
        </p:txBody>
      </p:sp>
      <p:cxnSp>
        <p:nvCxnSpPr>
          <p:cNvPr id="179" name="Google Shape;179;p10"/>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pic>
        <p:nvPicPr>
          <p:cNvPr id="3" name="Imagen 2" descr="Diagrama&#10;&#10;El contenido generado por IA puede ser incorrecto.">
            <a:extLst>
              <a:ext uri="{FF2B5EF4-FFF2-40B4-BE49-F238E27FC236}">
                <a16:creationId xmlns:a16="http://schemas.microsoft.com/office/drawing/2014/main" id="{7CFFB28E-36BE-0987-8E46-6684C25EFFEB}"/>
              </a:ext>
            </a:extLst>
          </p:cNvPr>
          <p:cNvPicPr>
            <a:picLocks noChangeAspect="1"/>
          </p:cNvPicPr>
          <p:nvPr/>
        </p:nvPicPr>
        <p:blipFill>
          <a:blip r:embed="rId4"/>
          <a:stretch>
            <a:fillRect/>
          </a:stretch>
        </p:blipFill>
        <p:spPr>
          <a:xfrm>
            <a:off x="2183288" y="2055055"/>
            <a:ext cx="8097797" cy="4802945"/>
          </a:xfrm>
          <a:prstGeom prst="rect">
            <a:avLst/>
          </a:prstGeom>
        </p:spPr>
      </p:pic>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99BC4DD3-02A4-B430-753E-FFD70B494DD1}"/>
            </a:ext>
          </a:extLst>
        </p:cNvPr>
        <p:cNvGrpSpPr/>
        <p:nvPr/>
      </p:nvGrpSpPr>
      <p:grpSpPr>
        <a:xfrm>
          <a:off x="0" y="0"/>
          <a:ext cx="0" cy="0"/>
          <a:chOff x="0" y="0"/>
          <a:chExt cx="0" cy="0"/>
        </a:xfrm>
      </p:grpSpPr>
      <p:pic>
        <p:nvPicPr>
          <p:cNvPr id="176" name="Google Shape;176;p10" descr="EscuelaIT Duoc UC - Escuela de Informática y Telecomunicaciones Duoc UC - Duoc  UC | LinkedIn">
            <a:extLst>
              <a:ext uri="{FF2B5EF4-FFF2-40B4-BE49-F238E27FC236}">
                <a16:creationId xmlns:a16="http://schemas.microsoft.com/office/drawing/2014/main" id="{3BE3962C-BE61-220E-9DB2-5866FB271576}"/>
              </a:ext>
            </a:extLst>
          </p:cNvPr>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77" name="Google Shape;177;p10">
            <a:extLst>
              <a:ext uri="{FF2B5EF4-FFF2-40B4-BE49-F238E27FC236}">
                <a16:creationId xmlns:a16="http://schemas.microsoft.com/office/drawing/2014/main" id="{1D453A07-E1D8-723B-5520-7448809F49B0}"/>
              </a:ext>
            </a:extLst>
          </p:cNvPr>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“CARTRACK”</a:t>
            </a:r>
            <a:endParaRPr/>
          </a:p>
        </p:txBody>
      </p:sp>
      <p:sp>
        <p:nvSpPr>
          <p:cNvPr id="178" name="Google Shape;178;p10">
            <a:extLst>
              <a:ext uri="{FF2B5EF4-FFF2-40B4-BE49-F238E27FC236}">
                <a16:creationId xmlns:a16="http://schemas.microsoft.com/office/drawing/2014/main" id="{851BC6FD-8941-8A6D-110B-C10F53B7D197}"/>
              </a:ext>
            </a:extLst>
          </p:cNvPr>
          <p:cNvSpPr txBox="1"/>
          <p:nvPr/>
        </p:nvSpPr>
        <p:spPr>
          <a:xfrm>
            <a:off x="0" y="1432655"/>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Modelo de datos</a:t>
            </a:r>
            <a:endParaRPr/>
          </a:p>
        </p:txBody>
      </p:sp>
      <p:cxnSp>
        <p:nvCxnSpPr>
          <p:cNvPr id="179" name="Google Shape;179;p10">
            <a:extLst>
              <a:ext uri="{FF2B5EF4-FFF2-40B4-BE49-F238E27FC236}">
                <a16:creationId xmlns:a16="http://schemas.microsoft.com/office/drawing/2014/main" id="{A4A0219D-B20B-3E48-F7A6-5176AAAEB7BB}"/>
              </a:ext>
            </a:extLst>
          </p:cNvPr>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pic>
        <p:nvPicPr>
          <p:cNvPr id="4" name="Imagen 3" descr="Diagrama&#10;&#10;El contenido generado por IA puede ser incorrecto.">
            <a:extLst>
              <a:ext uri="{FF2B5EF4-FFF2-40B4-BE49-F238E27FC236}">
                <a16:creationId xmlns:a16="http://schemas.microsoft.com/office/drawing/2014/main" id="{55775A78-9B70-93B6-4DFA-7D7B639F5497}"/>
              </a:ext>
            </a:extLst>
          </p:cNvPr>
          <p:cNvPicPr>
            <a:picLocks noChangeAspect="1"/>
          </p:cNvPicPr>
          <p:nvPr/>
        </p:nvPicPr>
        <p:blipFill>
          <a:blip r:embed="rId4"/>
          <a:stretch>
            <a:fillRect/>
          </a:stretch>
        </p:blipFill>
        <p:spPr>
          <a:xfrm>
            <a:off x="0" y="2078986"/>
            <a:ext cx="12192000" cy="3145502"/>
          </a:xfrm>
          <a:prstGeom prst="rect">
            <a:avLst/>
          </a:prstGeom>
        </p:spPr>
      </p:pic>
    </p:spTree>
    <p:extLst>
      <p:ext uri="{BB962C8B-B14F-4D97-AF65-F5344CB8AC3E}">
        <p14:creationId xmlns:p14="http://schemas.microsoft.com/office/powerpoint/2010/main" val="321812368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AFD7E27A-BDB0-3759-2C69-B15F3924EBC6}"/>
            </a:ext>
          </a:extLst>
        </p:cNvPr>
        <p:cNvGrpSpPr/>
        <p:nvPr/>
      </p:nvGrpSpPr>
      <p:grpSpPr>
        <a:xfrm>
          <a:off x="0" y="0"/>
          <a:ext cx="0" cy="0"/>
          <a:chOff x="0" y="0"/>
          <a:chExt cx="0" cy="0"/>
        </a:xfrm>
      </p:grpSpPr>
      <p:pic>
        <p:nvPicPr>
          <p:cNvPr id="184" name="Google Shape;184;p11" descr="EscuelaIT Duoc UC - Escuela de Informática y Telecomunicaciones Duoc UC - Duoc  UC | LinkedIn">
            <a:extLst>
              <a:ext uri="{FF2B5EF4-FFF2-40B4-BE49-F238E27FC236}">
                <a16:creationId xmlns:a16="http://schemas.microsoft.com/office/drawing/2014/main" id="{1D68C776-4192-0B92-6FD9-F1E8DE4B7565}"/>
              </a:ext>
            </a:extLst>
          </p:cNvPr>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85" name="Google Shape;185;p11">
            <a:extLst>
              <a:ext uri="{FF2B5EF4-FFF2-40B4-BE49-F238E27FC236}">
                <a16:creationId xmlns:a16="http://schemas.microsoft.com/office/drawing/2014/main" id="{8F9F5F96-5139-4D85-6CE8-00AC17EF35CD}"/>
              </a:ext>
            </a:extLst>
          </p:cNvPr>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dirty="0">
                <a:solidFill>
                  <a:srgbClr val="757070"/>
                </a:solidFill>
                <a:latin typeface="Calibri"/>
                <a:ea typeface="Calibri"/>
                <a:cs typeface="Calibri"/>
                <a:sym typeface="Calibri"/>
              </a:rPr>
              <a:t>PROYECTO “CARTRACK”</a:t>
            </a:r>
            <a:endParaRPr dirty="0"/>
          </a:p>
        </p:txBody>
      </p:sp>
      <p:sp>
        <p:nvSpPr>
          <p:cNvPr id="186" name="Google Shape;186;p11">
            <a:extLst>
              <a:ext uri="{FF2B5EF4-FFF2-40B4-BE49-F238E27FC236}">
                <a16:creationId xmlns:a16="http://schemas.microsoft.com/office/drawing/2014/main" id="{981D14BF-203F-0FD6-C3DD-8FA212C49851}"/>
              </a:ext>
            </a:extLst>
          </p:cNvPr>
          <p:cNvSpPr txBox="1"/>
          <p:nvPr/>
        </p:nvSpPr>
        <p:spPr>
          <a:xfrm>
            <a:off x="0" y="1432655"/>
            <a:ext cx="12191999"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dirty="0">
                <a:solidFill>
                  <a:schemeClr val="dk1"/>
                </a:solidFill>
                <a:latin typeface="Calibri"/>
                <a:ea typeface="Calibri"/>
                <a:cs typeface="Calibri"/>
                <a:sym typeface="Calibri"/>
              </a:rPr>
              <a:t>Elementos Analíticos a Incorporar</a:t>
            </a:r>
            <a:endParaRPr dirty="0"/>
          </a:p>
        </p:txBody>
      </p:sp>
      <p:cxnSp>
        <p:nvCxnSpPr>
          <p:cNvPr id="187" name="Google Shape;187;p11">
            <a:extLst>
              <a:ext uri="{FF2B5EF4-FFF2-40B4-BE49-F238E27FC236}">
                <a16:creationId xmlns:a16="http://schemas.microsoft.com/office/drawing/2014/main" id="{A8C9C265-65AE-CFAC-A164-6ED7122F2846}"/>
              </a:ext>
            </a:extLst>
          </p:cNvPr>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
        <p:nvSpPr>
          <p:cNvPr id="3" name="CuadroTexto 2">
            <a:extLst>
              <a:ext uri="{FF2B5EF4-FFF2-40B4-BE49-F238E27FC236}">
                <a16:creationId xmlns:a16="http://schemas.microsoft.com/office/drawing/2014/main" id="{6B92E155-BDBC-9A69-A049-160C64FF4B3D}"/>
              </a:ext>
            </a:extLst>
          </p:cNvPr>
          <p:cNvSpPr txBox="1"/>
          <p:nvPr/>
        </p:nvSpPr>
        <p:spPr>
          <a:xfrm>
            <a:off x="786384" y="2078945"/>
            <a:ext cx="10579608" cy="4093428"/>
          </a:xfrm>
          <a:prstGeom prst="rect">
            <a:avLst/>
          </a:prstGeom>
          <a:noFill/>
        </p:spPr>
        <p:txBody>
          <a:bodyPr wrap="square" rtlCol="0">
            <a:spAutoFit/>
          </a:bodyPr>
          <a:lstStyle/>
          <a:p>
            <a:pPr algn="ctr"/>
            <a:r>
              <a:rPr lang="es-ES" sz="2000" i="1" dirty="0"/>
              <a:t>Mes de Mayor Consumo de Combustible</a:t>
            </a:r>
          </a:p>
          <a:p>
            <a:endParaRPr lang="es-ES" sz="1600" dirty="0"/>
          </a:p>
          <a:p>
            <a:r>
              <a:rPr lang="es-ES" sz="1600" b="1" u="sng" dirty="0"/>
              <a:t>¿Qué?</a:t>
            </a:r>
          </a:p>
          <a:p>
            <a:r>
              <a:rPr lang="es-ES" sz="1600" dirty="0"/>
              <a:t>Identificar en qué mes del año se presenta el mayor volumen de carga de combustible para la flota o usuario.</a:t>
            </a:r>
          </a:p>
          <a:p>
            <a:endParaRPr lang="es-ES" sz="1600" dirty="0"/>
          </a:p>
          <a:p>
            <a:r>
              <a:rPr lang="es-ES" sz="1600" b="1" u="sng" dirty="0"/>
              <a:t>¿Por qué?</a:t>
            </a:r>
          </a:p>
          <a:p>
            <a:r>
              <a:rPr lang="es-ES" sz="1600" dirty="0"/>
              <a:t>Permite anticipar presupuestos, preparar estrategias para comprar combustible al mejor precio, o investigar causas de aumentos fuera de lo común.</a:t>
            </a:r>
          </a:p>
          <a:p>
            <a:endParaRPr lang="es-ES" sz="1600" dirty="0"/>
          </a:p>
          <a:p>
            <a:r>
              <a:rPr lang="es-ES" sz="1600" b="1" u="sng" dirty="0"/>
              <a:t>¿Cómo?</a:t>
            </a:r>
          </a:p>
          <a:p>
            <a:r>
              <a:rPr lang="es-ES" sz="1600" dirty="0"/>
              <a:t>Sumando los litros y montos cargados por mes, y destacando el periodo con mayores registros. Relacionando con eventos, viajes o estacionalidad.</a:t>
            </a:r>
          </a:p>
          <a:p>
            <a:endParaRPr lang="es-ES" sz="1600" dirty="0"/>
          </a:p>
          <a:p>
            <a:r>
              <a:rPr lang="es-ES" sz="1600" b="1" u="sng" dirty="0"/>
              <a:t>¿Con qué periodicidad? </a:t>
            </a:r>
          </a:p>
          <a:p>
            <a:r>
              <a:rPr lang="es-ES" sz="1600" dirty="0"/>
              <a:t>Informe anual, presentado tras el cierre de cada año calendario para análisis de comportamiento y planificación futura.</a:t>
            </a:r>
            <a:endParaRPr lang="es-CL" sz="1600" dirty="0"/>
          </a:p>
        </p:txBody>
      </p:sp>
    </p:spTree>
    <p:extLst>
      <p:ext uri="{BB962C8B-B14F-4D97-AF65-F5344CB8AC3E}">
        <p14:creationId xmlns:p14="http://schemas.microsoft.com/office/powerpoint/2010/main" val="2025325554"/>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336B8F6E-9BF6-3995-3789-9E21BED461B4}"/>
            </a:ext>
          </a:extLst>
        </p:cNvPr>
        <p:cNvGrpSpPr/>
        <p:nvPr/>
      </p:nvGrpSpPr>
      <p:grpSpPr>
        <a:xfrm>
          <a:off x="0" y="0"/>
          <a:ext cx="0" cy="0"/>
          <a:chOff x="0" y="0"/>
          <a:chExt cx="0" cy="0"/>
        </a:xfrm>
      </p:grpSpPr>
      <p:pic>
        <p:nvPicPr>
          <p:cNvPr id="184" name="Google Shape;184;p11" descr="EscuelaIT Duoc UC - Escuela de Informática y Telecomunicaciones Duoc UC - Duoc  UC | LinkedIn">
            <a:extLst>
              <a:ext uri="{FF2B5EF4-FFF2-40B4-BE49-F238E27FC236}">
                <a16:creationId xmlns:a16="http://schemas.microsoft.com/office/drawing/2014/main" id="{2D8DE455-9B6F-9639-461C-5D8FE9CFF079}"/>
              </a:ext>
            </a:extLst>
          </p:cNvPr>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85" name="Google Shape;185;p11">
            <a:extLst>
              <a:ext uri="{FF2B5EF4-FFF2-40B4-BE49-F238E27FC236}">
                <a16:creationId xmlns:a16="http://schemas.microsoft.com/office/drawing/2014/main" id="{1999A8A5-995C-A35B-38E8-D10852F45835}"/>
              </a:ext>
            </a:extLst>
          </p:cNvPr>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dirty="0">
                <a:solidFill>
                  <a:srgbClr val="757070"/>
                </a:solidFill>
                <a:latin typeface="Calibri"/>
                <a:ea typeface="Calibri"/>
                <a:cs typeface="Calibri"/>
                <a:sym typeface="Calibri"/>
              </a:rPr>
              <a:t>PROYECTO “CARTRACK”</a:t>
            </a:r>
            <a:endParaRPr dirty="0"/>
          </a:p>
        </p:txBody>
      </p:sp>
      <p:sp>
        <p:nvSpPr>
          <p:cNvPr id="186" name="Google Shape;186;p11">
            <a:extLst>
              <a:ext uri="{FF2B5EF4-FFF2-40B4-BE49-F238E27FC236}">
                <a16:creationId xmlns:a16="http://schemas.microsoft.com/office/drawing/2014/main" id="{CC14A4C1-FEA6-EEF4-46A4-BA714D82F646}"/>
              </a:ext>
            </a:extLst>
          </p:cNvPr>
          <p:cNvSpPr txBox="1"/>
          <p:nvPr/>
        </p:nvSpPr>
        <p:spPr>
          <a:xfrm>
            <a:off x="0" y="1432655"/>
            <a:ext cx="12191999"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dirty="0">
                <a:solidFill>
                  <a:schemeClr val="dk1"/>
                </a:solidFill>
                <a:latin typeface="Calibri"/>
                <a:ea typeface="Calibri"/>
                <a:cs typeface="Calibri"/>
                <a:sym typeface="Calibri"/>
              </a:rPr>
              <a:t>Elementos Analíticos a Incorporar</a:t>
            </a:r>
            <a:endParaRPr dirty="0"/>
          </a:p>
        </p:txBody>
      </p:sp>
      <p:cxnSp>
        <p:nvCxnSpPr>
          <p:cNvPr id="187" name="Google Shape;187;p11">
            <a:extLst>
              <a:ext uri="{FF2B5EF4-FFF2-40B4-BE49-F238E27FC236}">
                <a16:creationId xmlns:a16="http://schemas.microsoft.com/office/drawing/2014/main" id="{F67960E3-20F1-9F8D-FB58-01B56AEDFA51}"/>
              </a:ext>
            </a:extLst>
          </p:cNvPr>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
        <p:nvSpPr>
          <p:cNvPr id="3" name="CuadroTexto 2">
            <a:extLst>
              <a:ext uri="{FF2B5EF4-FFF2-40B4-BE49-F238E27FC236}">
                <a16:creationId xmlns:a16="http://schemas.microsoft.com/office/drawing/2014/main" id="{EC62B152-EFEC-9F10-7319-F7976C822951}"/>
              </a:ext>
            </a:extLst>
          </p:cNvPr>
          <p:cNvSpPr txBox="1"/>
          <p:nvPr/>
        </p:nvSpPr>
        <p:spPr>
          <a:xfrm>
            <a:off x="786384" y="2078945"/>
            <a:ext cx="10579608" cy="3847207"/>
          </a:xfrm>
          <a:prstGeom prst="rect">
            <a:avLst/>
          </a:prstGeom>
          <a:noFill/>
        </p:spPr>
        <p:txBody>
          <a:bodyPr wrap="square" rtlCol="0">
            <a:spAutoFit/>
          </a:bodyPr>
          <a:lstStyle/>
          <a:p>
            <a:pPr algn="ctr"/>
            <a:r>
              <a:rPr lang="es-ES" sz="2000" i="1" dirty="0"/>
              <a:t>Tasa de utilización de flota</a:t>
            </a:r>
          </a:p>
          <a:p>
            <a:endParaRPr lang="es-ES" sz="1600" dirty="0"/>
          </a:p>
          <a:p>
            <a:r>
              <a:rPr lang="es-ES" sz="1600" b="1" u="sng" dirty="0"/>
              <a:t>¿Qué?</a:t>
            </a:r>
          </a:p>
          <a:p>
            <a:r>
              <a:rPr lang="es-ES" sz="1600" dirty="0"/>
              <a:t>¿Qué porcentaje de los vehículos de la flota están activos versus inactivos en un periodo determinado? Este índice mide cuántos vehículos realmente están siendo usados para operaciones productivas frente al total disponible.</a:t>
            </a:r>
          </a:p>
          <a:p>
            <a:endParaRPr lang="es-ES" sz="1600" dirty="0"/>
          </a:p>
          <a:p>
            <a:r>
              <a:rPr lang="es-ES" sz="1600" b="1" u="sng" dirty="0"/>
              <a:t>¿Por qué?</a:t>
            </a:r>
          </a:p>
          <a:p>
            <a:r>
              <a:rPr lang="es-ES" sz="1600" dirty="0"/>
              <a:t>Permite identificar vehículos subutilizados, tomar decisiones informadas para optimizar el tamaño de la flota, reducir costos operativos y maximizar el retorno de la inversión en activos vehiculares</a:t>
            </a:r>
          </a:p>
          <a:p>
            <a:endParaRPr lang="es-ES" sz="1600" dirty="0"/>
          </a:p>
          <a:p>
            <a:r>
              <a:rPr lang="es-ES" sz="1600" b="1" u="sng" dirty="0"/>
              <a:t>¿Cómo?</a:t>
            </a:r>
          </a:p>
          <a:p>
            <a:r>
              <a:rPr lang="es-ES" sz="1600" dirty="0"/>
              <a:t>Vehículos con al menos 1 carga combustible en últimos 30 días / total</a:t>
            </a:r>
          </a:p>
          <a:p>
            <a:endParaRPr lang="es-ES" sz="1600" dirty="0"/>
          </a:p>
          <a:p>
            <a:r>
              <a:rPr lang="es-ES" sz="1600" b="1" u="sng" dirty="0"/>
              <a:t>¿Con qué periodicidad? </a:t>
            </a:r>
          </a:p>
          <a:p>
            <a:r>
              <a:rPr lang="es-ES" sz="1600" dirty="0"/>
              <a:t>Mensual</a:t>
            </a:r>
            <a:endParaRPr lang="es-CL" sz="1600" dirty="0"/>
          </a:p>
        </p:txBody>
      </p:sp>
    </p:spTree>
    <p:extLst>
      <p:ext uri="{BB962C8B-B14F-4D97-AF65-F5344CB8AC3E}">
        <p14:creationId xmlns:p14="http://schemas.microsoft.com/office/powerpoint/2010/main" val="3738730973"/>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8850F5DF-0FAB-AAB8-23F1-0B6832B345F8}"/>
            </a:ext>
          </a:extLst>
        </p:cNvPr>
        <p:cNvGrpSpPr/>
        <p:nvPr/>
      </p:nvGrpSpPr>
      <p:grpSpPr>
        <a:xfrm>
          <a:off x="0" y="0"/>
          <a:ext cx="0" cy="0"/>
          <a:chOff x="0" y="0"/>
          <a:chExt cx="0" cy="0"/>
        </a:xfrm>
      </p:grpSpPr>
      <p:pic>
        <p:nvPicPr>
          <p:cNvPr id="184" name="Google Shape;184;p11" descr="EscuelaIT Duoc UC - Escuela de Informática y Telecomunicaciones Duoc UC - Duoc  UC | LinkedIn">
            <a:extLst>
              <a:ext uri="{FF2B5EF4-FFF2-40B4-BE49-F238E27FC236}">
                <a16:creationId xmlns:a16="http://schemas.microsoft.com/office/drawing/2014/main" id="{3217FE15-8EE6-7C32-9A1A-069EFC9C4AC7}"/>
              </a:ext>
            </a:extLst>
          </p:cNvPr>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85" name="Google Shape;185;p11">
            <a:extLst>
              <a:ext uri="{FF2B5EF4-FFF2-40B4-BE49-F238E27FC236}">
                <a16:creationId xmlns:a16="http://schemas.microsoft.com/office/drawing/2014/main" id="{B3010361-C658-E24F-2EA7-CA83D7C83C98}"/>
              </a:ext>
            </a:extLst>
          </p:cNvPr>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dirty="0">
                <a:solidFill>
                  <a:srgbClr val="757070"/>
                </a:solidFill>
                <a:latin typeface="Calibri"/>
                <a:ea typeface="Calibri"/>
                <a:cs typeface="Calibri"/>
                <a:sym typeface="Calibri"/>
              </a:rPr>
              <a:t>PROYECTO “CARTRACK”</a:t>
            </a:r>
            <a:endParaRPr dirty="0"/>
          </a:p>
        </p:txBody>
      </p:sp>
      <p:sp>
        <p:nvSpPr>
          <p:cNvPr id="186" name="Google Shape;186;p11">
            <a:extLst>
              <a:ext uri="{FF2B5EF4-FFF2-40B4-BE49-F238E27FC236}">
                <a16:creationId xmlns:a16="http://schemas.microsoft.com/office/drawing/2014/main" id="{B2E92CC6-1A98-81A8-DDDF-A39DC231A854}"/>
              </a:ext>
            </a:extLst>
          </p:cNvPr>
          <p:cNvSpPr txBox="1"/>
          <p:nvPr/>
        </p:nvSpPr>
        <p:spPr>
          <a:xfrm>
            <a:off x="0" y="1432655"/>
            <a:ext cx="12191999"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dirty="0">
                <a:solidFill>
                  <a:schemeClr val="dk1"/>
                </a:solidFill>
                <a:latin typeface="Calibri"/>
                <a:ea typeface="Calibri"/>
                <a:cs typeface="Calibri"/>
                <a:sym typeface="Calibri"/>
              </a:rPr>
              <a:t>Elementos Analíticos a Incorporar</a:t>
            </a:r>
            <a:endParaRPr dirty="0"/>
          </a:p>
        </p:txBody>
      </p:sp>
      <p:cxnSp>
        <p:nvCxnSpPr>
          <p:cNvPr id="187" name="Google Shape;187;p11">
            <a:extLst>
              <a:ext uri="{FF2B5EF4-FFF2-40B4-BE49-F238E27FC236}">
                <a16:creationId xmlns:a16="http://schemas.microsoft.com/office/drawing/2014/main" id="{321E1499-89D1-E65F-C662-6633BF5D6A2A}"/>
              </a:ext>
            </a:extLst>
          </p:cNvPr>
          <p:cNvCxnSpPr/>
          <p:nvPr/>
        </p:nvCxnSpPr>
        <p:spPr>
          <a:xfrm>
            <a:off x="0" y="758027"/>
            <a:ext cx="4085617" cy="0"/>
          </a:xfrm>
          <a:prstGeom prst="straightConnector1">
            <a:avLst/>
          </a:prstGeom>
          <a:noFill/>
          <a:ln w="15875" cap="flat" cmpd="sng">
            <a:solidFill>
              <a:srgbClr val="F5F7FC"/>
            </a:solidFill>
            <a:prstDash val="solid"/>
            <a:miter lim="800000"/>
            <a:headEnd type="none" w="sm" len="sm"/>
            <a:tailEnd type="none" w="sm" len="sm"/>
          </a:ln>
        </p:spPr>
      </p:cxnSp>
      <p:sp>
        <p:nvSpPr>
          <p:cNvPr id="3" name="CuadroTexto 2">
            <a:extLst>
              <a:ext uri="{FF2B5EF4-FFF2-40B4-BE49-F238E27FC236}">
                <a16:creationId xmlns:a16="http://schemas.microsoft.com/office/drawing/2014/main" id="{1541B941-95BC-7F7A-D570-76E015881C31}"/>
              </a:ext>
            </a:extLst>
          </p:cNvPr>
          <p:cNvSpPr txBox="1"/>
          <p:nvPr/>
        </p:nvSpPr>
        <p:spPr>
          <a:xfrm>
            <a:off x="786384" y="2078945"/>
            <a:ext cx="10579608" cy="3847207"/>
          </a:xfrm>
          <a:prstGeom prst="rect">
            <a:avLst/>
          </a:prstGeom>
          <a:noFill/>
        </p:spPr>
        <p:txBody>
          <a:bodyPr wrap="square" rtlCol="0">
            <a:spAutoFit/>
          </a:bodyPr>
          <a:lstStyle/>
          <a:p>
            <a:pPr algn="ctr"/>
            <a:r>
              <a:rPr lang="es-ES" sz="2000" i="1" dirty="0"/>
              <a:t>Costo Promedio por Tipo de Mantenimiento</a:t>
            </a:r>
          </a:p>
          <a:p>
            <a:endParaRPr lang="es-ES" sz="1600" dirty="0"/>
          </a:p>
          <a:p>
            <a:r>
              <a:rPr lang="es-ES" sz="1600" b="1" u="sng" dirty="0"/>
              <a:t>¿Qué?</a:t>
            </a:r>
          </a:p>
          <a:p>
            <a:r>
              <a:rPr lang="es-ES" sz="1600" dirty="0"/>
              <a:t>¿Cómo ha evolucionado el precio promedio de servicios como cambio de aceite, frenos, neumáticos, etc. en distintos periodos?</a:t>
            </a:r>
          </a:p>
          <a:p>
            <a:endParaRPr lang="es-ES" sz="1600" dirty="0"/>
          </a:p>
          <a:p>
            <a:r>
              <a:rPr lang="es-ES" sz="1600" b="1" u="sng" dirty="0"/>
              <a:t>¿Por qué?</a:t>
            </a:r>
          </a:p>
          <a:p>
            <a:r>
              <a:rPr lang="es-ES" sz="1600" dirty="0"/>
              <a:t>Permite detectar inflación, identificar incrementos anormales, evaluar proveedores y optimizar el gasto operativo.</a:t>
            </a:r>
          </a:p>
          <a:p>
            <a:endParaRPr lang="es-ES" sz="1600" dirty="0"/>
          </a:p>
          <a:p>
            <a:r>
              <a:rPr lang="es-ES" sz="1600" b="1" u="sng" dirty="0"/>
              <a:t>¿Cómo?</a:t>
            </a:r>
          </a:p>
          <a:p>
            <a:r>
              <a:rPr lang="es-ES" sz="1600" dirty="0"/>
              <a:t>Analizando el costo promedio de cada tipo de mantenimiento por mes, y comparando la variación respecto a meses anteriores.</a:t>
            </a:r>
          </a:p>
          <a:p>
            <a:endParaRPr lang="es-ES" sz="1600" dirty="0"/>
          </a:p>
          <a:p>
            <a:r>
              <a:rPr lang="es-ES" sz="1600" b="1" u="sng" dirty="0"/>
              <a:t>¿Con qué periodicidad? </a:t>
            </a:r>
          </a:p>
          <a:p>
            <a:r>
              <a:rPr lang="es-ES" sz="1600" dirty="0"/>
              <a:t>Análisis mensual, para monitorear tendencias de costos y responder rápidamente a variaciones sospechosas</a:t>
            </a:r>
            <a:endParaRPr lang="es-CL" sz="1600" dirty="0"/>
          </a:p>
        </p:txBody>
      </p:sp>
    </p:spTree>
    <p:extLst>
      <p:ext uri="{BB962C8B-B14F-4D97-AF65-F5344CB8AC3E}">
        <p14:creationId xmlns:p14="http://schemas.microsoft.com/office/powerpoint/2010/main" val="4044510164"/>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2" name="Google Shape;192;g390e870e1cf_0_37"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93" name="Google Shape;193;g390e870e1cf_0_37"/>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lvl="0"/>
            <a:r>
              <a:rPr lang="es-CL" sz="1800" dirty="0">
                <a:solidFill>
                  <a:srgbClr val="757070"/>
                </a:solidFill>
                <a:latin typeface="Calibri"/>
                <a:ea typeface="Calibri"/>
                <a:cs typeface="Calibri"/>
                <a:sym typeface="Calibri"/>
              </a:rPr>
              <a:t>PROYECTO “CARTRACK”</a:t>
            </a:r>
            <a:endParaRPr sz="1800" dirty="0">
              <a:solidFill>
                <a:srgbClr val="757070"/>
              </a:solidFill>
              <a:latin typeface="Calibri"/>
              <a:ea typeface="Calibri"/>
              <a:cs typeface="Calibri"/>
              <a:sym typeface="Calibri"/>
            </a:endParaRPr>
          </a:p>
        </p:txBody>
      </p:sp>
      <p:sp>
        <p:nvSpPr>
          <p:cNvPr id="194" name="Google Shape;194;g390e870e1cf_0_37"/>
          <p:cNvSpPr txBox="1"/>
          <p:nvPr/>
        </p:nvSpPr>
        <p:spPr>
          <a:xfrm>
            <a:off x="0" y="1432655"/>
            <a:ext cx="121920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Tecnologías utilizadas</a:t>
            </a:r>
            <a:endParaRPr/>
          </a:p>
        </p:txBody>
      </p:sp>
      <p:cxnSp>
        <p:nvCxnSpPr>
          <p:cNvPr id="195" name="Google Shape;195;g390e870e1cf_0_37"/>
          <p:cNvCxnSpPr/>
          <p:nvPr/>
        </p:nvCxnSpPr>
        <p:spPr>
          <a:xfrm>
            <a:off x="0" y="758027"/>
            <a:ext cx="4085700" cy="0"/>
          </a:xfrm>
          <a:prstGeom prst="straightConnector1">
            <a:avLst/>
          </a:prstGeom>
          <a:noFill/>
          <a:ln w="15875" cap="flat" cmpd="sng">
            <a:solidFill>
              <a:srgbClr val="F5F7FC"/>
            </a:solidFill>
            <a:prstDash val="solid"/>
            <a:miter lim="800000"/>
            <a:headEnd type="none" w="sm" len="sm"/>
            <a:tailEnd type="none" w="sm" len="sm"/>
          </a:ln>
        </p:spPr>
      </p:cxnSp>
      <p:graphicFrame>
        <p:nvGraphicFramePr>
          <p:cNvPr id="196" name="Google Shape;196;g390e870e1cf_0_37"/>
          <p:cNvGraphicFramePr/>
          <p:nvPr/>
        </p:nvGraphicFramePr>
        <p:xfrm>
          <a:off x="571500" y="2331400"/>
          <a:ext cx="11049000" cy="3128201"/>
        </p:xfrm>
        <a:graphic>
          <a:graphicData uri="http://schemas.openxmlformats.org/drawingml/2006/table">
            <a:tbl>
              <a:tblPr>
                <a:solidFill>
                  <a:srgbClr val="FFFFFF"/>
                </a:solidFill>
                <a:tableStyleId>{5B31E44A-B6BE-4C56-A256-951C69883386}</a:tableStyleId>
              </a:tblPr>
              <a:tblGrid>
                <a:gridCol w="2828925">
                  <a:extLst>
                    <a:ext uri="{9D8B030D-6E8A-4147-A177-3AD203B41FA5}">
                      <a16:colId xmlns:a16="http://schemas.microsoft.com/office/drawing/2014/main" val="20000"/>
                    </a:ext>
                  </a:extLst>
                </a:gridCol>
                <a:gridCol w="2019300">
                  <a:extLst>
                    <a:ext uri="{9D8B030D-6E8A-4147-A177-3AD203B41FA5}">
                      <a16:colId xmlns:a16="http://schemas.microsoft.com/office/drawing/2014/main" val="20001"/>
                    </a:ext>
                  </a:extLst>
                </a:gridCol>
                <a:gridCol w="1590675">
                  <a:extLst>
                    <a:ext uri="{9D8B030D-6E8A-4147-A177-3AD203B41FA5}">
                      <a16:colId xmlns:a16="http://schemas.microsoft.com/office/drawing/2014/main" val="20002"/>
                    </a:ext>
                  </a:extLst>
                </a:gridCol>
                <a:gridCol w="4610100">
                  <a:extLst>
                    <a:ext uri="{9D8B030D-6E8A-4147-A177-3AD203B41FA5}">
                      <a16:colId xmlns:a16="http://schemas.microsoft.com/office/drawing/2014/main" val="20003"/>
                    </a:ext>
                  </a:extLst>
                </a:gridCol>
              </a:tblGrid>
              <a:tr h="514350">
                <a:tc>
                  <a:txBody>
                    <a:bodyPr/>
                    <a:lstStyle/>
                    <a:p>
                      <a:pPr marL="0" lvl="0" indent="0" algn="l" rtl="0">
                        <a:lnSpc>
                          <a:spcPct val="115000"/>
                        </a:lnSpc>
                        <a:spcBef>
                          <a:spcPts val="0"/>
                        </a:spcBef>
                        <a:spcAft>
                          <a:spcPts val="0"/>
                        </a:spcAft>
                        <a:buClr>
                          <a:schemeClr val="dk1"/>
                        </a:buClr>
                        <a:buSzPts val="1100"/>
                        <a:buFont typeface="Arial"/>
                        <a:buNone/>
                      </a:pPr>
                      <a:r>
                        <a:rPr lang="es-CL" sz="1450" b="1">
                          <a:solidFill>
                            <a:schemeClr val="lt1"/>
                          </a:solidFill>
                          <a:highlight>
                            <a:srgbClr val="003366"/>
                          </a:highlight>
                        </a:rPr>
                        <a:t>Área</a:t>
                      </a:r>
                      <a:endParaRPr sz="1450" b="1">
                        <a:solidFill>
                          <a:schemeClr val="dk1"/>
                        </a:solidFill>
                        <a:highlight>
                          <a:srgbClr val="FFFFFF"/>
                        </a:highlight>
                      </a:endParaRPr>
                    </a:p>
                  </a:txBody>
                  <a:tcPr marL="190500" marR="190500" marT="152400" marB="152400">
                    <a:lnB w="9525" cap="flat" cmpd="sng">
                      <a:solidFill>
                        <a:srgbClr val="E2E8F0"/>
                      </a:solidFill>
                      <a:prstDash val="solid"/>
                      <a:round/>
                      <a:headEnd type="none" w="sm" len="sm"/>
                      <a:tailEnd type="none" w="sm" len="sm"/>
                    </a:lnB>
                    <a:solidFill>
                      <a:srgbClr val="003366"/>
                    </a:solidFill>
                  </a:tcPr>
                </a:tc>
                <a:tc>
                  <a:txBody>
                    <a:bodyPr/>
                    <a:lstStyle/>
                    <a:p>
                      <a:pPr marL="0" lvl="0" indent="0" algn="l" rtl="0">
                        <a:lnSpc>
                          <a:spcPct val="115000"/>
                        </a:lnSpc>
                        <a:spcBef>
                          <a:spcPts val="0"/>
                        </a:spcBef>
                        <a:spcAft>
                          <a:spcPts val="0"/>
                        </a:spcAft>
                        <a:buNone/>
                      </a:pPr>
                      <a:r>
                        <a:rPr lang="es-CL" sz="1450" b="1">
                          <a:solidFill>
                            <a:schemeClr val="lt1"/>
                          </a:solidFill>
                          <a:highlight>
                            <a:srgbClr val="003366"/>
                          </a:highlight>
                        </a:rPr>
                        <a:t>Tecnología</a:t>
                      </a:r>
                      <a:endParaRPr sz="1450" b="1">
                        <a:solidFill>
                          <a:schemeClr val="lt1"/>
                        </a:solidFill>
                        <a:highlight>
                          <a:srgbClr val="003366"/>
                        </a:highlight>
                      </a:endParaRPr>
                    </a:p>
                  </a:txBody>
                  <a:tcPr marL="190500" marR="190500" marT="152400" marB="152400">
                    <a:lnB w="9525" cap="flat" cmpd="sng">
                      <a:solidFill>
                        <a:srgbClr val="E2E8F0"/>
                      </a:solidFill>
                      <a:prstDash val="solid"/>
                      <a:round/>
                      <a:headEnd type="none" w="sm" len="sm"/>
                      <a:tailEnd type="none" w="sm" len="sm"/>
                    </a:lnB>
                    <a:solidFill>
                      <a:srgbClr val="003366"/>
                    </a:solidFill>
                  </a:tcPr>
                </a:tc>
                <a:tc>
                  <a:txBody>
                    <a:bodyPr/>
                    <a:lstStyle/>
                    <a:p>
                      <a:pPr marL="0" lvl="0" indent="0" algn="l" rtl="0">
                        <a:lnSpc>
                          <a:spcPct val="115000"/>
                        </a:lnSpc>
                        <a:spcBef>
                          <a:spcPts val="0"/>
                        </a:spcBef>
                        <a:spcAft>
                          <a:spcPts val="0"/>
                        </a:spcAft>
                        <a:buClr>
                          <a:schemeClr val="dk1"/>
                        </a:buClr>
                        <a:buSzPts val="1100"/>
                        <a:buFont typeface="Arial"/>
                        <a:buNone/>
                      </a:pPr>
                      <a:r>
                        <a:rPr lang="es-CL" sz="1450" b="1">
                          <a:solidFill>
                            <a:schemeClr val="lt1"/>
                          </a:solidFill>
                          <a:highlight>
                            <a:srgbClr val="003366"/>
                          </a:highlight>
                        </a:rPr>
                        <a:t>Versión</a:t>
                      </a:r>
                      <a:endParaRPr sz="1450" b="1">
                        <a:solidFill>
                          <a:srgbClr val="FFFFFF"/>
                        </a:solidFill>
                        <a:highlight>
                          <a:srgbClr val="FFFFFF"/>
                        </a:highlight>
                      </a:endParaRPr>
                    </a:p>
                  </a:txBody>
                  <a:tcPr marL="190500" marR="190500" marT="152400" marB="152400">
                    <a:lnB w="9525" cap="flat" cmpd="sng">
                      <a:solidFill>
                        <a:srgbClr val="E2E8F0"/>
                      </a:solidFill>
                      <a:prstDash val="solid"/>
                      <a:round/>
                      <a:headEnd type="none" w="sm" len="sm"/>
                      <a:tailEnd type="none" w="sm" len="sm"/>
                    </a:lnB>
                    <a:solidFill>
                      <a:srgbClr val="003366"/>
                    </a:solidFill>
                  </a:tcPr>
                </a:tc>
                <a:tc>
                  <a:txBody>
                    <a:bodyPr/>
                    <a:lstStyle/>
                    <a:p>
                      <a:pPr marL="0" lvl="0" indent="0" algn="l" rtl="0">
                        <a:lnSpc>
                          <a:spcPct val="115000"/>
                        </a:lnSpc>
                        <a:spcBef>
                          <a:spcPts val="0"/>
                        </a:spcBef>
                        <a:spcAft>
                          <a:spcPts val="0"/>
                        </a:spcAft>
                        <a:buClr>
                          <a:schemeClr val="dk1"/>
                        </a:buClr>
                        <a:buSzPts val="1100"/>
                        <a:buFont typeface="Arial"/>
                        <a:buNone/>
                      </a:pPr>
                      <a:r>
                        <a:rPr lang="es-CL" sz="1450" b="1">
                          <a:solidFill>
                            <a:schemeClr val="lt1"/>
                          </a:solidFill>
                          <a:highlight>
                            <a:srgbClr val="003366"/>
                          </a:highlight>
                        </a:rPr>
                        <a:t>Propósito</a:t>
                      </a:r>
                      <a:endParaRPr sz="1450" b="1">
                        <a:solidFill>
                          <a:srgbClr val="FFFFFF"/>
                        </a:solidFill>
                        <a:highlight>
                          <a:srgbClr val="FFFFFF"/>
                        </a:highlight>
                      </a:endParaRPr>
                    </a:p>
                  </a:txBody>
                  <a:tcPr marL="190500" marR="190500" marT="152400" marB="152400">
                    <a:lnB w="9525" cap="flat" cmpd="sng">
                      <a:solidFill>
                        <a:srgbClr val="E2E8F0"/>
                      </a:solidFill>
                      <a:prstDash val="solid"/>
                      <a:round/>
                      <a:headEnd type="none" w="sm" len="sm"/>
                      <a:tailEnd type="none" w="sm" len="sm"/>
                    </a:lnB>
                    <a:solidFill>
                      <a:srgbClr val="003366"/>
                    </a:solidFill>
                  </a:tcPr>
                </a:tc>
                <a:extLst>
                  <a:ext uri="{0D108BD9-81ED-4DB2-BD59-A6C34878D82A}">
                    <a16:rowId xmlns:a16="http://schemas.microsoft.com/office/drawing/2014/main" val="10000"/>
                  </a:ext>
                </a:extLst>
              </a:tr>
              <a:tr h="485775">
                <a:tc>
                  <a:txBody>
                    <a:bodyPr/>
                    <a:lstStyle/>
                    <a:p>
                      <a:pPr marL="0" lvl="0" indent="0" algn="l" rtl="0">
                        <a:spcBef>
                          <a:spcPts val="0"/>
                        </a:spcBef>
                        <a:spcAft>
                          <a:spcPts val="0"/>
                        </a:spcAft>
                        <a:buNone/>
                      </a:pPr>
                      <a:r>
                        <a:rPr lang="es-CL">
                          <a:solidFill>
                            <a:srgbClr val="1E293B"/>
                          </a:solidFill>
                          <a:highlight>
                            <a:srgbClr val="FFFFFF"/>
                          </a:highlight>
                        </a:rPr>
                        <a:t>Frontend</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Angular</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17.x</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Framework para SPA responsiva</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1"/>
                  </a:ext>
                </a:extLst>
              </a:tr>
              <a:tr h="485775">
                <a:tc>
                  <a:txBody>
                    <a:bodyPr/>
                    <a:lstStyle/>
                    <a:p>
                      <a:pPr marL="0" lvl="0" indent="0" algn="l" rtl="0">
                        <a:spcBef>
                          <a:spcPts val="0"/>
                        </a:spcBef>
                        <a:spcAft>
                          <a:spcPts val="0"/>
                        </a:spcAft>
                        <a:buNone/>
                      </a:pPr>
                      <a:r>
                        <a:rPr lang="es-CL">
                          <a:solidFill>
                            <a:srgbClr val="1E293B"/>
                          </a:solidFill>
                          <a:highlight>
                            <a:srgbClr val="FFFFFF"/>
                          </a:highlight>
                        </a:rPr>
                        <a:t>UI Framework</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Bootstrap</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5.3</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Diseño responsivo y componentes UI</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2"/>
                  </a:ext>
                </a:extLst>
              </a:tr>
              <a:tr h="485775">
                <a:tc>
                  <a:txBody>
                    <a:bodyPr/>
                    <a:lstStyle/>
                    <a:p>
                      <a:pPr marL="0" lvl="0" indent="0" algn="l" rtl="0">
                        <a:spcBef>
                          <a:spcPts val="0"/>
                        </a:spcBef>
                        <a:spcAft>
                          <a:spcPts val="0"/>
                        </a:spcAft>
                        <a:buNone/>
                      </a:pPr>
                      <a:r>
                        <a:rPr lang="es-CL">
                          <a:solidFill>
                            <a:srgbClr val="1E293B"/>
                          </a:solidFill>
                          <a:highlight>
                            <a:srgbClr val="FFFFFF"/>
                          </a:highlight>
                        </a:rPr>
                        <a:t>Backend</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Node.js</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18</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Runtime JavaScript del servidor</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3"/>
                  </a:ext>
                </a:extLst>
              </a:tr>
              <a:tr h="485775">
                <a:tc>
                  <a:txBody>
                    <a:bodyPr/>
                    <a:lstStyle/>
                    <a:p>
                      <a:pPr marL="0" lvl="0" indent="0" algn="l" rtl="0">
                        <a:spcBef>
                          <a:spcPts val="0"/>
                        </a:spcBef>
                        <a:spcAft>
                          <a:spcPts val="0"/>
                        </a:spcAft>
                        <a:buNone/>
                      </a:pPr>
                      <a:r>
                        <a:rPr lang="es-CL">
                          <a:solidFill>
                            <a:srgbClr val="1E293B"/>
                          </a:solidFill>
                          <a:highlight>
                            <a:srgbClr val="FFFFFF"/>
                          </a:highlight>
                        </a:rPr>
                        <a:t>Framework Backend</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Express.js</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5.x</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API REST rápida y escalable</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4"/>
                  </a:ext>
                </a:extLst>
              </a:tr>
              <a:tr h="485775">
                <a:tc>
                  <a:txBody>
                    <a:bodyPr/>
                    <a:lstStyle/>
                    <a:p>
                      <a:pPr marL="0" lvl="0" indent="0" algn="l" rtl="0">
                        <a:spcBef>
                          <a:spcPts val="0"/>
                        </a:spcBef>
                        <a:spcAft>
                          <a:spcPts val="0"/>
                        </a:spcAft>
                        <a:buNone/>
                      </a:pPr>
                      <a:r>
                        <a:rPr lang="es-CL">
                          <a:solidFill>
                            <a:srgbClr val="1E293B"/>
                          </a:solidFill>
                          <a:highlight>
                            <a:srgbClr val="FFFFFF"/>
                          </a:highlight>
                        </a:rPr>
                        <a:t>Base de Datos</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PostgreSQL</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16</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DB relacional</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pic>
        <p:nvPicPr>
          <p:cNvPr id="201" name="Google Shape;201;g390e870e1cf_0_47"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02" name="Google Shape;202;g390e870e1cf_0_47"/>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lvl="0"/>
            <a:r>
              <a:rPr lang="es-CL" sz="1800" dirty="0">
                <a:solidFill>
                  <a:srgbClr val="757070"/>
                </a:solidFill>
                <a:latin typeface="Calibri"/>
                <a:ea typeface="Calibri"/>
                <a:cs typeface="Calibri"/>
                <a:sym typeface="Calibri"/>
              </a:rPr>
              <a:t>PROYECTO “CARTRACK”</a:t>
            </a:r>
            <a:endParaRPr sz="1800" dirty="0">
              <a:solidFill>
                <a:srgbClr val="757070"/>
              </a:solidFill>
              <a:latin typeface="Calibri"/>
              <a:ea typeface="Calibri"/>
              <a:cs typeface="Calibri"/>
              <a:sym typeface="Calibri"/>
            </a:endParaRPr>
          </a:p>
        </p:txBody>
      </p:sp>
      <p:sp>
        <p:nvSpPr>
          <p:cNvPr id="203" name="Google Shape;203;g390e870e1cf_0_47"/>
          <p:cNvSpPr txBox="1"/>
          <p:nvPr/>
        </p:nvSpPr>
        <p:spPr>
          <a:xfrm>
            <a:off x="0" y="1432655"/>
            <a:ext cx="121920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Tecnologías utilizadas</a:t>
            </a:r>
            <a:endParaRPr/>
          </a:p>
        </p:txBody>
      </p:sp>
      <p:cxnSp>
        <p:nvCxnSpPr>
          <p:cNvPr id="204" name="Google Shape;204;g390e870e1cf_0_47"/>
          <p:cNvCxnSpPr/>
          <p:nvPr/>
        </p:nvCxnSpPr>
        <p:spPr>
          <a:xfrm>
            <a:off x="0" y="758027"/>
            <a:ext cx="4085700" cy="0"/>
          </a:xfrm>
          <a:prstGeom prst="straightConnector1">
            <a:avLst/>
          </a:prstGeom>
          <a:noFill/>
          <a:ln w="15875" cap="flat" cmpd="sng">
            <a:solidFill>
              <a:srgbClr val="F5F7FC"/>
            </a:solidFill>
            <a:prstDash val="solid"/>
            <a:miter lim="800000"/>
            <a:headEnd type="none" w="sm" len="sm"/>
            <a:tailEnd type="none" w="sm" len="sm"/>
          </a:ln>
        </p:spPr>
      </p:cxnSp>
      <p:graphicFrame>
        <p:nvGraphicFramePr>
          <p:cNvPr id="205" name="Google Shape;205;g390e870e1cf_0_47"/>
          <p:cNvGraphicFramePr/>
          <p:nvPr/>
        </p:nvGraphicFramePr>
        <p:xfrm>
          <a:off x="571500" y="2331400"/>
          <a:ext cx="11049000" cy="2610041"/>
        </p:xfrm>
        <a:graphic>
          <a:graphicData uri="http://schemas.openxmlformats.org/drawingml/2006/table">
            <a:tbl>
              <a:tblPr>
                <a:solidFill>
                  <a:srgbClr val="FFFFFF"/>
                </a:solidFill>
                <a:tableStyleId>{5B31E44A-B6BE-4C56-A256-951C69883386}</a:tableStyleId>
              </a:tblPr>
              <a:tblGrid>
                <a:gridCol w="2828925">
                  <a:extLst>
                    <a:ext uri="{9D8B030D-6E8A-4147-A177-3AD203B41FA5}">
                      <a16:colId xmlns:a16="http://schemas.microsoft.com/office/drawing/2014/main" val="20000"/>
                    </a:ext>
                  </a:extLst>
                </a:gridCol>
                <a:gridCol w="2019300">
                  <a:extLst>
                    <a:ext uri="{9D8B030D-6E8A-4147-A177-3AD203B41FA5}">
                      <a16:colId xmlns:a16="http://schemas.microsoft.com/office/drawing/2014/main" val="20001"/>
                    </a:ext>
                  </a:extLst>
                </a:gridCol>
                <a:gridCol w="1590675">
                  <a:extLst>
                    <a:ext uri="{9D8B030D-6E8A-4147-A177-3AD203B41FA5}">
                      <a16:colId xmlns:a16="http://schemas.microsoft.com/office/drawing/2014/main" val="20002"/>
                    </a:ext>
                  </a:extLst>
                </a:gridCol>
                <a:gridCol w="4610100">
                  <a:extLst>
                    <a:ext uri="{9D8B030D-6E8A-4147-A177-3AD203B41FA5}">
                      <a16:colId xmlns:a16="http://schemas.microsoft.com/office/drawing/2014/main" val="20003"/>
                    </a:ext>
                  </a:extLst>
                </a:gridCol>
              </a:tblGrid>
              <a:tr h="514350">
                <a:tc>
                  <a:txBody>
                    <a:bodyPr/>
                    <a:lstStyle/>
                    <a:p>
                      <a:pPr marL="0" lvl="0" indent="0" algn="l" rtl="0">
                        <a:lnSpc>
                          <a:spcPct val="115000"/>
                        </a:lnSpc>
                        <a:spcBef>
                          <a:spcPts val="0"/>
                        </a:spcBef>
                        <a:spcAft>
                          <a:spcPts val="0"/>
                        </a:spcAft>
                        <a:buNone/>
                      </a:pPr>
                      <a:r>
                        <a:rPr lang="es-CL" sz="1450" b="1">
                          <a:solidFill>
                            <a:schemeClr val="lt1"/>
                          </a:solidFill>
                          <a:highlight>
                            <a:srgbClr val="003366"/>
                          </a:highlight>
                        </a:rPr>
                        <a:t>Área</a:t>
                      </a:r>
                      <a:endParaRPr sz="1450" b="1">
                        <a:solidFill>
                          <a:schemeClr val="dk1"/>
                        </a:solidFill>
                        <a:highlight>
                          <a:srgbClr val="FFFFFF"/>
                        </a:highlight>
                      </a:endParaRPr>
                    </a:p>
                  </a:txBody>
                  <a:tcPr marL="190500" marR="190500" marT="152400" marB="152400">
                    <a:solidFill>
                      <a:srgbClr val="003366"/>
                    </a:solidFill>
                  </a:tcPr>
                </a:tc>
                <a:tc>
                  <a:txBody>
                    <a:bodyPr/>
                    <a:lstStyle/>
                    <a:p>
                      <a:pPr marL="0" lvl="0" indent="0" algn="l" rtl="0">
                        <a:lnSpc>
                          <a:spcPct val="115000"/>
                        </a:lnSpc>
                        <a:spcBef>
                          <a:spcPts val="0"/>
                        </a:spcBef>
                        <a:spcAft>
                          <a:spcPts val="0"/>
                        </a:spcAft>
                        <a:buNone/>
                      </a:pPr>
                      <a:r>
                        <a:rPr lang="es-CL" sz="1450" b="1">
                          <a:solidFill>
                            <a:schemeClr val="lt1"/>
                          </a:solidFill>
                          <a:highlight>
                            <a:srgbClr val="003366"/>
                          </a:highlight>
                        </a:rPr>
                        <a:t>Tecnología</a:t>
                      </a:r>
                      <a:endParaRPr sz="1450" b="1">
                        <a:solidFill>
                          <a:schemeClr val="lt1"/>
                        </a:solidFill>
                        <a:highlight>
                          <a:srgbClr val="003366"/>
                        </a:highlight>
                      </a:endParaRPr>
                    </a:p>
                  </a:txBody>
                  <a:tcPr marL="190500" marR="190500" marT="152400" marB="152400">
                    <a:solidFill>
                      <a:srgbClr val="003366"/>
                    </a:solidFill>
                  </a:tcPr>
                </a:tc>
                <a:tc>
                  <a:txBody>
                    <a:bodyPr/>
                    <a:lstStyle/>
                    <a:p>
                      <a:pPr marL="0" lvl="0" indent="0" algn="l" rtl="0">
                        <a:lnSpc>
                          <a:spcPct val="115000"/>
                        </a:lnSpc>
                        <a:spcBef>
                          <a:spcPts val="0"/>
                        </a:spcBef>
                        <a:spcAft>
                          <a:spcPts val="0"/>
                        </a:spcAft>
                        <a:buNone/>
                      </a:pPr>
                      <a:r>
                        <a:rPr lang="es-CL" sz="1450" b="1">
                          <a:solidFill>
                            <a:schemeClr val="lt1"/>
                          </a:solidFill>
                          <a:highlight>
                            <a:srgbClr val="003366"/>
                          </a:highlight>
                        </a:rPr>
                        <a:t>Versión</a:t>
                      </a:r>
                      <a:endParaRPr sz="1450" b="1">
                        <a:solidFill>
                          <a:srgbClr val="FFFFFF"/>
                        </a:solidFill>
                        <a:highlight>
                          <a:srgbClr val="FFFFFF"/>
                        </a:highlight>
                      </a:endParaRPr>
                    </a:p>
                  </a:txBody>
                  <a:tcPr marL="190500" marR="190500" marT="152400" marB="152400">
                    <a:solidFill>
                      <a:srgbClr val="003366"/>
                    </a:solidFill>
                  </a:tcPr>
                </a:tc>
                <a:tc>
                  <a:txBody>
                    <a:bodyPr/>
                    <a:lstStyle/>
                    <a:p>
                      <a:pPr marL="0" lvl="0" indent="0" algn="l" rtl="0">
                        <a:lnSpc>
                          <a:spcPct val="115000"/>
                        </a:lnSpc>
                        <a:spcBef>
                          <a:spcPts val="0"/>
                        </a:spcBef>
                        <a:spcAft>
                          <a:spcPts val="0"/>
                        </a:spcAft>
                        <a:buNone/>
                      </a:pPr>
                      <a:r>
                        <a:rPr lang="es-CL" sz="1450" b="1">
                          <a:solidFill>
                            <a:schemeClr val="lt1"/>
                          </a:solidFill>
                          <a:highlight>
                            <a:srgbClr val="003366"/>
                          </a:highlight>
                        </a:rPr>
                        <a:t>Propósito</a:t>
                      </a:r>
                      <a:endParaRPr sz="1450" b="1">
                        <a:solidFill>
                          <a:srgbClr val="FFFFFF"/>
                        </a:solidFill>
                        <a:highlight>
                          <a:srgbClr val="FFFFFF"/>
                        </a:highlight>
                      </a:endParaRPr>
                    </a:p>
                  </a:txBody>
                  <a:tcPr marL="190500" marR="190500" marT="152400" marB="152400">
                    <a:solidFill>
                      <a:srgbClr val="003366"/>
                    </a:solidFill>
                  </a:tcPr>
                </a:tc>
                <a:extLst>
                  <a:ext uri="{0D108BD9-81ED-4DB2-BD59-A6C34878D82A}">
                    <a16:rowId xmlns:a16="http://schemas.microsoft.com/office/drawing/2014/main" val="10000"/>
                  </a:ext>
                </a:extLst>
              </a:tr>
              <a:tr h="485775">
                <a:tc>
                  <a:txBody>
                    <a:bodyPr/>
                    <a:lstStyle/>
                    <a:p>
                      <a:pPr marL="0" lvl="0" indent="0" algn="l" rtl="0">
                        <a:spcBef>
                          <a:spcPts val="0"/>
                        </a:spcBef>
                        <a:spcAft>
                          <a:spcPts val="0"/>
                        </a:spcAft>
                        <a:buNone/>
                      </a:pPr>
                      <a:r>
                        <a:rPr lang="es-CL">
                          <a:solidFill>
                            <a:srgbClr val="1E293B"/>
                          </a:solidFill>
                          <a:highlight>
                            <a:srgbClr val="FFFFFF"/>
                          </a:highlight>
                        </a:rPr>
                        <a:t>ORM</a:t>
                      </a:r>
                      <a:endParaRPr>
                        <a:solidFill>
                          <a:srgbClr val="1E293B"/>
                        </a:solidFill>
                        <a:highlight>
                          <a:srgbClr val="FFFFFF"/>
                        </a:highlight>
                      </a:endParaRPr>
                    </a:p>
                  </a:txBody>
                  <a:tcPr marL="190500" marR="190500" marT="152400" marB="152400">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Prisma</a:t>
                      </a:r>
                      <a:endParaRPr>
                        <a:solidFill>
                          <a:srgbClr val="1E293B"/>
                        </a:solidFill>
                        <a:highlight>
                          <a:srgbClr val="FFFFFF"/>
                        </a:highlight>
                      </a:endParaRPr>
                    </a:p>
                  </a:txBody>
                  <a:tcPr marL="190500" marR="190500" marT="152400" marB="152400">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6.x</a:t>
                      </a:r>
                      <a:endParaRPr>
                        <a:solidFill>
                          <a:srgbClr val="1E293B"/>
                        </a:solidFill>
                        <a:highlight>
                          <a:srgbClr val="FFFFFF"/>
                        </a:highlight>
                      </a:endParaRPr>
                    </a:p>
                  </a:txBody>
                  <a:tcPr marL="190500" marR="190500" marT="152400" marB="152400">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Mapeo objeto-relacional</a:t>
                      </a:r>
                      <a:endParaRPr>
                        <a:solidFill>
                          <a:srgbClr val="1E293B"/>
                        </a:solidFill>
                        <a:highlight>
                          <a:srgbClr val="FFFFFF"/>
                        </a:highlight>
                      </a:endParaRPr>
                    </a:p>
                  </a:txBody>
                  <a:tcPr marL="190500" marR="190500" marT="152400" marB="152400">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1"/>
                  </a:ext>
                </a:extLst>
              </a:tr>
              <a:tr h="485775">
                <a:tc>
                  <a:txBody>
                    <a:bodyPr/>
                    <a:lstStyle/>
                    <a:p>
                      <a:pPr marL="0" lvl="0" indent="0" algn="l" rtl="0">
                        <a:spcBef>
                          <a:spcPts val="0"/>
                        </a:spcBef>
                        <a:spcAft>
                          <a:spcPts val="0"/>
                        </a:spcAft>
                        <a:buNone/>
                      </a:pPr>
                      <a:r>
                        <a:rPr lang="es-CL">
                          <a:solidFill>
                            <a:srgbClr val="1E293B"/>
                          </a:solidFill>
                          <a:highlight>
                            <a:srgbClr val="FFFFFF"/>
                          </a:highlight>
                        </a:rPr>
                        <a:t>Autenticación</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JWT</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Tokens de sesión seguros</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2"/>
                  </a:ext>
                </a:extLst>
              </a:tr>
              <a:tr h="485775">
                <a:tc>
                  <a:txBody>
                    <a:bodyPr/>
                    <a:lstStyle/>
                    <a:p>
                      <a:pPr marL="0" lvl="0" indent="0" algn="l" rtl="0">
                        <a:spcBef>
                          <a:spcPts val="0"/>
                        </a:spcBef>
                        <a:spcAft>
                          <a:spcPts val="0"/>
                        </a:spcAft>
                        <a:buNone/>
                      </a:pPr>
                      <a:r>
                        <a:rPr lang="es-CL">
                          <a:solidFill>
                            <a:srgbClr val="1E293B"/>
                          </a:solidFill>
                          <a:highlight>
                            <a:srgbClr val="FFFFFF"/>
                          </a:highlight>
                        </a:rPr>
                        <a:t>Control Versiones</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Git + GitHub</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Versionamiento colaborativo</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3"/>
                  </a:ext>
                </a:extLst>
              </a:tr>
              <a:tr h="485775">
                <a:tc>
                  <a:txBody>
                    <a:bodyPr/>
                    <a:lstStyle/>
                    <a:p>
                      <a:pPr marL="0" lvl="0" indent="0" algn="l" rtl="0">
                        <a:spcBef>
                          <a:spcPts val="0"/>
                        </a:spcBef>
                        <a:spcAft>
                          <a:spcPts val="0"/>
                        </a:spcAft>
                        <a:buNone/>
                      </a:pPr>
                      <a:r>
                        <a:rPr lang="es-CL">
                          <a:solidFill>
                            <a:srgbClr val="1E293B"/>
                          </a:solidFill>
                          <a:highlight>
                            <a:srgbClr val="FFFFFF"/>
                          </a:highlight>
                        </a:rPr>
                        <a:t>Diagramación</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Figma</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lvl="0" indent="0" algn="l" rtl="0">
                        <a:spcBef>
                          <a:spcPts val="0"/>
                        </a:spcBef>
                        <a:spcAft>
                          <a:spcPts val="0"/>
                        </a:spcAft>
                        <a:buNone/>
                      </a:pPr>
                      <a:r>
                        <a:rPr lang="es-CL">
                          <a:solidFill>
                            <a:srgbClr val="1E293B"/>
                          </a:solidFill>
                          <a:highlight>
                            <a:srgbClr val="FFFFFF"/>
                          </a:highlight>
                        </a:rPr>
                        <a:t>Diseño de Mockups y UX/UI</a:t>
                      </a:r>
                      <a:endParaRPr>
                        <a:solidFill>
                          <a:srgbClr val="1E293B"/>
                        </a:solidFill>
                        <a:highlight>
                          <a:srgbClr val="FFFFFF"/>
                        </a:highlight>
                      </a:endParaRPr>
                    </a:p>
                  </a:txBody>
                  <a:tcPr marL="190500" marR="190500" marT="152400" marB="152400">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p14"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11" name="Google Shape;211;p14"/>
          <p:cNvSpPr txBox="1"/>
          <p:nvPr/>
        </p:nvSpPr>
        <p:spPr>
          <a:xfrm>
            <a:off x="1" y="1459095"/>
            <a:ext cx="12191999"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4400">
                <a:solidFill>
                  <a:schemeClr val="dk1"/>
                </a:solidFill>
                <a:latin typeface="Calibri"/>
                <a:ea typeface="Calibri"/>
                <a:cs typeface="Calibri"/>
                <a:sym typeface="Calibri"/>
              </a:rPr>
              <a:t>Resultados obtenidos</a:t>
            </a:r>
            <a:endParaRPr/>
          </a:p>
        </p:txBody>
      </p:sp>
      <p:sp>
        <p:nvSpPr>
          <p:cNvPr id="212" name="Google Shape;212;p14"/>
          <p:cNvSpPr txBox="1"/>
          <p:nvPr/>
        </p:nvSpPr>
        <p:spPr>
          <a:xfrm>
            <a:off x="2023350" y="2228525"/>
            <a:ext cx="7730400" cy="3199500"/>
          </a:xfrm>
          <a:prstGeom prst="rect">
            <a:avLst/>
          </a:prstGeom>
          <a:noFill/>
          <a:ln>
            <a:noFill/>
          </a:ln>
        </p:spPr>
        <p:txBody>
          <a:bodyPr spcFirstLastPara="1" wrap="square" lIns="91425" tIns="91425" rIns="91425" bIns="91425" anchor="t" anchorCtr="0">
            <a:noAutofit/>
          </a:bodyPr>
          <a:lstStyle/>
          <a:p>
            <a:pPr marL="457200" lvl="0" indent="-228600" algn="l" rtl="0">
              <a:lnSpc>
                <a:spcPct val="150000"/>
              </a:lnSpc>
              <a:spcBef>
                <a:spcPts val="0"/>
              </a:spcBef>
              <a:spcAft>
                <a:spcPts val="0"/>
              </a:spcAft>
              <a:buClr>
                <a:srgbClr val="1E293B"/>
              </a:buClr>
              <a:buSzPts val="1500"/>
              <a:buNone/>
            </a:pPr>
            <a:r>
              <a:rPr lang="es-CL" sz="1500">
                <a:solidFill>
                  <a:srgbClr val="1E293B"/>
                </a:solidFill>
                <a:highlight>
                  <a:srgbClr val="FFFFFF"/>
                </a:highlight>
              </a:rPr>
              <a:t>☑️ Una aplicación web 100% funcional que centraliza la gestión vehicular.</a:t>
            </a:r>
            <a:endParaRPr sz="1500">
              <a:solidFill>
                <a:srgbClr val="1E293B"/>
              </a:solidFill>
              <a:highlight>
                <a:srgbClr val="FFFFFF"/>
              </a:highlight>
            </a:endParaRPr>
          </a:p>
          <a:p>
            <a:pPr marL="457200" lvl="0" indent="-228600" algn="l" rtl="0">
              <a:lnSpc>
                <a:spcPct val="150000"/>
              </a:lnSpc>
              <a:spcBef>
                <a:spcPts val="0"/>
              </a:spcBef>
              <a:spcAft>
                <a:spcPts val="0"/>
              </a:spcAft>
              <a:buClr>
                <a:srgbClr val="1E293B"/>
              </a:buClr>
              <a:buSzPts val="1500"/>
              <a:buNone/>
            </a:pPr>
            <a:r>
              <a:rPr lang="es-CL" sz="1500">
                <a:solidFill>
                  <a:srgbClr val="1E293B"/>
                </a:solidFill>
                <a:highlight>
                  <a:srgbClr val="FFFFFF"/>
                </a:highlight>
              </a:rPr>
              <a:t>☑️ API RESTful segura y robusta para todas las operaciones CRUD del sistema.</a:t>
            </a:r>
            <a:endParaRPr sz="1500">
              <a:solidFill>
                <a:srgbClr val="1E293B"/>
              </a:solidFill>
              <a:highlight>
                <a:srgbClr val="FFFFFF"/>
              </a:highlight>
            </a:endParaRPr>
          </a:p>
          <a:p>
            <a:pPr marL="457200" lvl="0" indent="-228600" algn="l" rtl="0">
              <a:lnSpc>
                <a:spcPct val="150000"/>
              </a:lnSpc>
              <a:spcBef>
                <a:spcPts val="0"/>
              </a:spcBef>
              <a:spcAft>
                <a:spcPts val="0"/>
              </a:spcAft>
              <a:buClr>
                <a:srgbClr val="1E293B"/>
              </a:buClr>
              <a:buSzPts val="1500"/>
              <a:buNone/>
            </a:pPr>
            <a:r>
              <a:rPr lang="es-CL" sz="1500">
                <a:solidFill>
                  <a:srgbClr val="1E293B"/>
                </a:solidFill>
                <a:highlight>
                  <a:srgbClr val="FFFFFF"/>
                </a:highlight>
              </a:rPr>
              <a:t>☑️ Dashboards de BI que permiten el análisis de gastos y mantenimientos.</a:t>
            </a:r>
            <a:endParaRPr sz="1500">
              <a:solidFill>
                <a:srgbClr val="1E293B"/>
              </a:solidFill>
              <a:highlight>
                <a:srgbClr val="FFFFFF"/>
              </a:highlight>
            </a:endParaRPr>
          </a:p>
          <a:p>
            <a:pPr marL="457200" lvl="0" indent="-228600" algn="l" rtl="0">
              <a:lnSpc>
                <a:spcPct val="150000"/>
              </a:lnSpc>
              <a:spcBef>
                <a:spcPts val="0"/>
              </a:spcBef>
              <a:spcAft>
                <a:spcPts val="0"/>
              </a:spcAft>
              <a:buClr>
                <a:srgbClr val="1E293B"/>
              </a:buClr>
              <a:buSzPts val="1500"/>
              <a:buNone/>
            </a:pPr>
            <a:r>
              <a:rPr lang="es-CL" sz="1500">
                <a:solidFill>
                  <a:srgbClr val="1E293B"/>
                </a:solidFill>
                <a:highlight>
                  <a:srgbClr val="FFFFFF"/>
                </a:highlight>
              </a:rPr>
              <a:t>☑️ Sistema de trazabilidad completo, con transferencia de historial entre usuarios.</a:t>
            </a:r>
            <a:endParaRPr sz="1500">
              <a:solidFill>
                <a:srgbClr val="1E293B"/>
              </a:solidFill>
              <a:highlight>
                <a:srgbClr val="FFFFFF"/>
              </a:highlight>
            </a:endParaRPr>
          </a:p>
          <a:p>
            <a:pPr marL="457200" lvl="0" indent="-228600" algn="l" rtl="0">
              <a:lnSpc>
                <a:spcPct val="150000"/>
              </a:lnSpc>
              <a:spcBef>
                <a:spcPts val="0"/>
              </a:spcBef>
              <a:spcAft>
                <a:spcPts val="0"/>
              </a:spcAft>
              <a:buClr>
                <a:srgbClr val="1E293B"/>
              </a:buClr>
              <a:buSzPts val="1500"/>
              <a:buNone/>
            </a:pPr>
            <a:r>
              <a:rPr lang="es-CL" sz="1500">
                <a:solidFill>
                  <a:srgbClr val="1E293B"/>
                </a:solidFill>
                <a:highlight>
                  <a:srgbClr val="FFFFFF"/>
                </a:highlight>
              </a:rPr>
              <a:t>☑️ Documentación técnica (API) para la entrega final del proyecto</a:t>
            </a:r>
            <a:endParaRPr sz="1500">
              <a:solidFill>
                <a:srgbClr val="1E293B"/>
              </a:solidFill>
              <a:highlight>
                <a:srgbClr val="FFFFFF"/>
              </a:highlight>
            </a:endParaRPr>
          </a:p>
          <a:p>
            <a:pPr marL="0" lvl="0" indent="0" algn="l" rtl="0">
              <a:spcBef>
                <a:spcPts val="1500"/>
              </a:spcBef>
              <a:spcAft>
                <a:spcPts val="0"/>
              </a:spcAft>
              <a:buNone/>
            </a:pPr>
            <a:endParaRPr sz="2800">
              <a:solidFill>
                <a:schemeClr val="dk1"/>
              </a:solidFill>
              <a:latin typeface="Calibri"/>
              <a:ea typeface="Calibri"/>
              <a:cs typeface="Calibri"/>
              <a:sym typeface="Calibri"/>
            </a:endParaRPr>
          </a:p>
        </p:txBody>
      </p:sp>
      <p:sp>
        <p:nvSpPr>
          <p:cNvPr id="4" name="Google Shape;202;g390e870e1cf_0_47">
            <a:extLst>
              <a:ext uri="{FF2B5EF4-FFF2-40B4-BE49-F238E27FC236}">
                <a16:creationId xmlns:a16="http://schemas.microsoft.com/office/drawing/2014/main" id="{A6A28311-F7A4-AA03-21C7-CAABA857126E}"/>
              </a:ext>
            </a:extLst>
          </p:cNvPr>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lvl="0"/>
            <a:r>
              <a:rPr lang="es-CL" sz="1800" dirty="0">
                <a:solidFill>
                  <a:srgbClr val="757070"/>
                </a:solidFill>
                <a:latin typeface="Calibri"/>
                <a:ea typeface="Calibri"/>
                <a:cs typeface="Calibri"/>
                <a:sym typeface="Calibri"/>
              </a:rPr>
              <a:t>PROYECTO “CARTRACK”</a:t>
            </a:r>
            <a:endParaRPr sz="1800" dirty="0">
              <a:solidFill>
                <a:srgbClr val="757070"/>
              </a:solidFill>
              <a:latin typeface="Calibri"/>
              <a:ea typeface="Calibri"/>
              <a:cs typeface="Calibri"/>
              <a:sym typeface="Calibri"/>
            </a:endParaRPr>
          </a:p>
        </p:txBody>
      </p:sp>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217" name="Google Shape;217;p15"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18" name="Google Shape;218;p15"/>
          <p:cNvSpPr txBox="1"/>
          <p:nvPr/>
        </p:nvSpPr>
        <p:spPr>
          <a:xfrm>
            <a:off x="1" y="1360773"/>
            <a:ext cx="12191999"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4400">
                <a:solidFill>
                  <a:schemeClr val="dk1"/>
                </a:solidFill>
                <a:latin typeface="Calibri"/>
                <a:ea typeface="Calibri"/>
                <a:cs typeface="Calibri"/>
                <a:sym typeface="Calibri"/>
              </a:rPr>
              <a:t>Obstáculos presentados durante el desarrollo</a:t>
            </a:r>
            <a:endParaRPr/>
          </a:p>
        </p:txBody>
      </p:sp>
      <p:sp>
        <p:nvSpPr>
          <p:cNvPr id="219" name="Google Shape;219;p15"/>
          <p:cNvSpPr txBox="1"/>
          <p:nvPr/>
        </p:nvSpPr>
        <p:spPr>
          <a:xfrm>
            <a:off x="1186775" y="2529200"/>
            <a:ext cx="5603100" cy="3396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s-CL" sz="2100" b="1">
                <a:solidFill>
                  <a:srgbClr val="003366"/>
                </a:solidFill>
              </a:rPr>
              <a:t>Obstáculo: Seguridad de la API</a:t>
            </a:r>
            <a:endParaRPr sz="2100" b="1">
              <a:solidFill>
                <a:srgbClr val="003366"/>
              </a:solidFill>
            </a:endParaRPr>
          </a:p>
          <a:p>
            <a:pPr marL="0" lvl="0" indent="0" algn="l" rtl="0">
              <a:lnSpc>
                <a:spcPct val="150000"/>
              </a:lnSpc>
              <a:spcBef>
                <a:spcPts val="1400"/>
              </a:spcBef>
              <a:spcAft>
                <a:spcPts val="0"/>
              </a:spcAft>
              <a:buClr>
                <a:schemeClr val="dk1"/>
              </a:buClr>
              <a:buSzPts val="1100"/>
              <a:buFont typeface="Arial"/>
              <a:buNone/>
            </a:pPr>
            <a:r>
              <a:rPr lang="es-CL" sz="1350">
                <a:solidFill>
                  <a:srgbClr val="1E293B"/>
                </a:solidFill>
              </a:rPr>
              <a:t>La implementación de un control de acceso robusto (roles, JWT) y la validación de datos en todos los endpoints fue un desafío técnico complejo.</a:t>
            </a:r>
            <a:endParaRPr sz="1350">
              <a:solidFill>
                <a:srgbClr val="1E293B"/>
              </a:solidFill>
            </a:endParaRPr>
          </a:p>
          <a:p>
            <a:pPr marL="0" lvl="0" indent="0" algn="l" rtl="0">
              <a:lnSpc>
                <a:spcPct val="150000"/>
              </a:lnSpc>
              <a:spcBef>
                <a:spcPts val="1400"/>
              </a:spcBef>
              <a:spcAft>
                <a:spcPts val="0"/>
              </a:spcAft>
              <a:buClr>
                <a:schemeClr val="dk1"/>
              </a:buClr>
              <a:buSzPts val="1100"/>
              <a:buFont typeface="Arial"/>
              <a:buNone/>
            </a:pPr>
            <a:r>
              <a:rPr lang="es-CL" sz="1350" b="1">
                <a:solidFill>
                  <a:srgbClr val="1E293B"/>
                </a:solidFill>
              </a:rPr>
              <a:t>Solución:</a:t>
            </a:r>
            <a:r>
              <a:rPr lang="es-CL" sz="1350">
                <a:solidFill>
                  <a:srgbClr val="1E293B"/>
                </a:solidFill>
              </a:rPr>
              <a:t> Se priorizó el desarrollo de middleware de autenticación y autorización, y se realizaron revisiones de código específicas para componentes de seguridad.</a:t>
            </a:r>
            <a:endParaRPr sz="1350">
              <a:solidFill>
                <a:srgbClr val="1E293B"/>
              </a:solidFill>
            </a:endParaRPr>
          </a:p>
          <a:p>
            <a:pPr marL="0" lvl="0" indent="0" algn="l" rtl="0">
              <a:spcBef>
                <a:spcPts val="1400"/>
              </a:spcBef>
              <a:spcAft>
                <a:spcPts val="0"/>
              </a:spcAft>
              <a:buNone/>
            </a:pPr>
            <a:endParaRPr sz="2800">
              <a:solidFill>
                <a:schemeClr val="dk1"/>
              </a:solidFill>
              <a:latin typeface="Calibri"/>
              <a:ea typeface="Calibri"/>
              <a:cs typeface="Calibri"/>
              <a:sym typeface="Calibri"/>
            </a:endParaRPr>
          </a:p>
        </p:txBody>
      </p:sp>
      <p:sp>
        <p:nvSpPr>
          <p:cNvPr id="220" name="Google Shape;220;p15"/>
          <p:cNvSpPr txBox="1"/>
          <p:nvPr/>
        </p:nvSpPr>
        <p:spPr>
          <a:xfrm>
            <a:off x="7188750" y="2529200"/>
            <a:ext cx="3754800" cy="3677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CL" sz="2100" b="1">
                <a:solidFill>
                  <a:srgbClr val="003366"/>
                </a:solidFill>
              </a:rPr>
              <a:t>Obstáculo: Coordinación Paralela</a:t>
            </a:r>
            <a:endParaRPr sz="2100" b="1">
              <a:solidFill>
                <a:srgbClr val="003366"/>
              </a:solidFill>
            </a:endParaRPr>
          </a:p>
          <a:p>
            <a:pPr marL="0" lvl="0" indent="0" algn="l" rtl="0">
              <a:lnSpc>
                <a:spcPct val="150000"/>
              </a:lnSpc>
              <a:spcBef>
                <a:spcPts val="1400"/>
              </a:spcBef>
              <a:spcAft>
                <a:spcPts val="0"/>
              </a:spcAft>
              <a:buNone/>
            </a:pPr>
            <a:r>
              <a:rPr lang="es-CL" sz="1350">
                <a:solidFill>
                  <a:srgbClr val="1E293B"/>
                </a:solidFill>
              </a:rPr>
              <a:t>Mantener la consistencia entre el contrato de la API (Backend) y su consumo (Frontend) mientras se desarrollaban en paralelo fue un desafío logístico.</a:t>
            </a:r>
            <a:endParaRPr sz="1350">
              <a:solidFill>
                <a:srgbClr val="1E293B"/>
              </a:solidFill>
            </a:endParaRPr>
          </a:p>
          <a:p>
            <a:pPr marL="0" lvl="0" indent="0" algn="l" rtl="0">
              <a:lnSpc>
                <a:spcPct val="150000"/>
              </a:lnSpc>
              <a:spcBef>
                <a:spcPts val="1400"/>
              </a:spcBef>
              <a:spcAft>
                <a:spcPts val="1400"/>
              </a:spcAft>
              <a:buNone/>
            </a:pPr>
            <a:r>
              <a:rPr lang="es-CL" sz="1350" b="1">
                <a:solidFill>
                  <a:srgbClr val="1E293B"/>
                </a:solidFill>
              </a:rPr>
              <a:t>Solución:</a:t>
            </a:r>
            <a:r>
              <a:rPr lang="es-CL" sz="1350">
                <a:solidFill>
                  <a:srgbClr val="1E293B"/>
                </a:solidFill>
              </a:rPr>
              <a:t> Se establecieron "contratos de API" claros y documentados (usando Postman) para minimizar malentendidos y desacoplar el trabajo.</a:t>
            </a:r>
            <a:endParaRPr sz="1350">
              <a:solidFill>
                <a:srgbClr val="1E293B"/>
              </a:solidFill>
            </a:endParaRPr>
          </a:p>
        </p:txBody>
      </p:sp>
      <p:sp>
        <p:nvSpPr>
          <p:cNvPr id="2" name="Google Shape;202;g390e870e1cf_0_47">
            <a:extLst>
              <a:ext uri="{FF2B5EF4-FFF2-40B4-BE49-F238E27FC236}">
                <a16:creationId xmlns:a16="http://schemas.microsoft.com/office/drawing/2014/main" id="{CA888932-FD23-F52F-FA13-93EC68A3FE78}"/>
              </a:ext>
            </a:extLst>
          </p:cNvPr>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lvl="0"/>
            <a:r>
              <a:rPr lang="es-CL" sz="1800" dirty="0">
                <a:solidFill>
                  <a:srgbClr val="757070"/>
                </a:solidFill>
                <a:latin typeface="Calibri"/>
                <a:ea typeface="Calibri"/>
                <a:cs typeface="Calibri"/>
                <a:sym typeface="Calibri"/>
              </a:rPr>
              <a:t>PROYECTO “CARTRACK”</a:t>
            </a:r>
            <a:endParaRPr sz="1800" dirty="0">
              <a:solidFill>
                <a:srgbClr val="757070"/>
              </a:solidFill>
              <a:latin typeface="Calibri"/>
              <a:ea typeface="Calibri"/>
              <a:cs typeface="Calibri"/>
              <a:sym typeface="Calibri"/>
            </a:endParaRPr>
          </a:p>
        </p:txBody>
      </p:sp>
    </p:spTree>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pic>
        <p:nvPicPr>
          <p:cNvPr id="225" name="Google Shape;225;g390e870e1cf_0_16"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26" name="Google Shape;226;g390e870e1cf_0_16"/>
          <p:cNvSpPr txBox="1"/>
          <p:nvPr/>
        </p:nvSpPr>
        <p:spPr>
          <a:xfrm>
            <a:off x="1" y="1360773"/>
            <a:ext cx="12192000" cy="769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4400">
                <a:solidFill>
                  <a:schemeClr val="dk1"/>
                </a:solidFill>
                <a:latin typeface="Calibri"/>
                <a:ea typeface="Calibri"/>
                <a:cs typeface="Calibri"/>
                <a:sym typeface="Calibri"/>
              </a:rPr>
              <a:t>Obstáculos presentados durante el desarrollo</a:t>
            </a:r>
            <a:endParaRPr/>
          </a:p>
        </p:txBody>
      </p:sp>
      <p:sp>
        <p:nvSpPr>
          <p:cNvPr id="227" name="Google Shape;227;g390e870e1cf_0_16"/>
          <p:cNvSpPr txBox="1"/>
          <p:nvPr/>
        </p:nvSpPr>
        <p:spPr>
          <a:xfrm>
            <a:off x="7188750" y="2529200"/>
            <a:ext cx="3000000" cy="3924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1400"/>
              </a:spcBef>
              <a:spcAft>
                <a:spcPts val="1400"/>
              </a:spcAft>
              <a:buNone/>
            </a:pPr>
            <a:endParaRPr sz="1350">
              <a:solidFill>
                <a:srgbClr val="1E293B"/>
              </a:solidFill>
            </a:endParaRPr>
          </a:p>
        </p:txBody>
      </p:sp>
      <p:sp>
        <p:nvSpPr>
          <p:cNvPr id="228" name="Google Shape;228;g390e870e1cf_0_16"/>
          <p:cNvSpPr txBox="1"/>
          <p:nvPr/>
        </p:nvSpPr>
        <p:spPr>
          <a:xfrm>
            <a:off x="1186775" y="2529200"/>
            <a:ext cx="5603100" cy="3084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CL" sz="2100" b="1">
                <a:solidFill>
                  <a:srgbClr val="003366"/>
                </a:solidFill>
              </a:rPr>
              <a:t>Obstáculo: Poca comunicación</a:t>
            </a:r>
            <a:endParaRPr sz="2100" b="1">
              <a:solidFill>
                <a:srgbClr val="003366"/>
              </a:solidFill>
            </a:endParaRPr>
          </a:p>
          <a:p>
            <a:pPr marL="0" lvl="0" indent="0" algn="l" rtl="0">
              <a:lnSpc>
                <a:spcPct val="150000"/>
              </a:lnSpc>
              <a:spcBef>
                <a:spcPts val="1400"/>
              </a:spcBef>
              <a:spcAft>
                <a:spcPts val="0"/>
              </a:spcAft>
              <a:buNone/>
            </a:pPr>
            <a:r>
              <a:rPr lang="es-CL" sz="1350">
                <a:solidFill>
                  <a:srgbClr val="1E293B"/>
                </a:solidFill>
              </a:rPr>
              <a:t>El desarrollo del proyecto a nivel de equipo fue algo complicado, debido a la falta de comunicación, poco compromiso algunas veces</a:t>
            </a:r>
            <a:endParaRPr sz="1350">
              <a:solidFill>
                <a:srgbClr val="1E293B"/>
              </a:solidFill>
            </a:endParaRPr>
          </a:p>
          <a:p>
            <a:pPr marL="0" lvl="0" indent="0" algn="l" rtl="0">
              <a:lnSpc>
                <a:spcPct val="150000"/>
              </a:lnSpc>
              <a:spcBef>
                <a:spcPts val="1400"/>
              </a:spcBef>
              <a:spcAft>
                <a:spcPts val="0"/>
              </a:spcAft>
              <a:buNone/>
            </a:pPr>
            <a:r>
              <a:rPr lang="es-CL" sz="1350" b="1">
                <a:solidFill>
                  <a:srgbClr val="1E293B"/>
                </a:solidFill>
              </a:rPr>
              <a:t>Solución:</a:t>
            </a:r>
            <a:r>
              <a:rPr lang="es-CL" sz="1350">
                <a:solidFill>
                  <a:srgbClr val="1E293B"/>
                </a:solidFill>
              </a:rPr>
              <a:t> Se estableció una comunicación clara con los miembros del equipo para poder dedicarle más tiempo al desarrollo. Reuniones semanales para ver el avance que se iba realizando.</a:t>
            </a:r>
            <a:endParaRPr sz="1350">
              <a:solidFill>
                <a:srgbClr val="1E293B"/>
              </a:solidFill>
            </a:endParaRPr>
          </a:p>
          <a:p>
            <a:pPr marL="0" lvl="0" indent="0" algn="l" rtl="0">
              <a:spcBef>
                <a:spcPts val="1400"/>
              </a:spcBef>
              <a:spcAft>
                <a:spcPts val="0"/>
              </a:spcAft>
              <a:buNone/>
            </a:pPr>
            <a:endParaRPr sz="2800">
              <a:solidFill>
                <a:schemeClr val="dk1"/>
              </a:solidFill>
              <a:latin typeface="Calibri"/>
              <a:ea typeface="Calibri"/>
              <a:cs typeface="Calibri"/>
              <a:sym typeface="Calibri"/>
            </a:endParaRPr>
          </a:p>
        </p:txBody>
      </p:sp>
      <p:sp>
        <p:nvSpPr>
          <p:cNvPr id="2" name="Google Shape;202;g390e870e1cf_0_47">
            <a:extLst>
              <a:ext uri="{FF2B5EF4-FFF2-40B4-BE49-F238E27FC236}">
                <a16:creationId xmlns:a16="http://schemas.microsoft.com/office/drawing/2014/main" id="{FAA8BA30-079B-4B90-787D-2994E692DB3B}"/>
              </a:ext>
            </a:extLst>
          </p:cNvPr>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lvl="0"/>
            <a:r>
              <a:rPr lang="es-CL" sz="1800" dirty="0">
                <a:solidFill>
                  <a:srgbClr val="757070"/>
                </a:solidFill>
                <a:latin typeface="Calibri"/>
                <a:ea typeface="Calibri"/>
                <a:cs typeface="Calibri"/>
                <a:sym typeface="Calibri"/>
              </a:rPr>
              <a:t>PROYECTO “CARTRACK”</a:t>
            </a:r>
            <a:endParaRPr sz="1800" dirty="0">
              <a:solidFill>
                <a:srgbClr val="757070"/>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pic>
        <p:nvPicPr>
          <p:cNvPr id="233" name="Google Shape;233;p16"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34" name="Google Shape;234;p16"/>
          <p:cNvSpPr txBox="1"/>
          <p:nvPr/>
        </p:nvSpPr>
        <p:spPr>
          <a:xfrm>
            <a:off x="1" y="2707792"/>
            <a:ext cx="12191999" cy="113877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4400">
                <a:solidFill>
                  <a:schemeClr val="dk1"/>
                </a:solidFill>
                <a:latin typeface="Calibri"/>
                <a:ea typeface="Calibri"/>
                <a:cs typeface="Calibri"/>
                <a:sym typeface="Calibri"/>
              </a:rPr>
              <a:t>DEMOSTRACIÓN DEL RESULTADO DEL PROYECTO</a:t>
            </a:r>
            <a:endParaRPr/>
          </a:p>
          <a:p>
            <a:pPr marL="0" marR="0" lvl="0" indent="0" algn="ctr" rtl="0">
              <a:spcBef>
                <a:spcPts val="0"/>
              </a:spcBef>
              <a:spcAft>
                <a:spcPts val="0"/>
              </a:spcAft>
              <a:buNone/>
            </a:pPr>
            <a:r>
              <a:rPr lang="es-CL" sz="2400">
                <a:solidFill>
                  <a:srgbClr val="757070"/>
                </a:solidFill>
                <a:latin typeface="Calibri"/>
                <a:ea typeface="Calibri"/>
                <a:cs typeface="Calibri"/>
                <a:sym typeface="Calibri"/>
              </a:rPr>
              <a:t>*Exposición del sistema</a:t>
            </a:r>
            <a:endParaRPr sz="2400">
              <a:solidFill>
                <a:srgbClr val="757070"/>
              </a:solidFill>
              <a:latin typeface="Calibri"/>
              <a:ea typeface="Calibri"/>
              <a:cs typeface="Calibri"/>
              <a:sym typeface="Calibri"/>
            </a:endParaRPr>
          </a:p>
        </p:txBody>
      </p:sp>
      <p:sp>
        <p:nvSpPr>
          <p:cNvPr id="2" name="Google Shape;202;g390e870e1cf_0_47">
            <a:extLst>
              <a:ext uri="{FF2B5EF4-FFF2-40B4-BE49-F238E27FC236}">
                <a16:creationId xmlns:a16="http://schemas.microsoft.com/office/drawing/2014/main" id="{4A13C0E8-0ADC-F263-ACE0-27DC66178917}"/>
              </a:ext>
            </a:extLst>
          </p:cNvPr>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lvl="0"/>
            <a:r>
              <a:rPr lang="es-CL" sz="1800" dirty="0">
                <a:solidFill>
                  <a:srgbClr val="757070"/>
                </a:solidFill>
                <a:latin typeface="Calibri"/>
                <a:ea typeface="Calibri"/>
                <a:cs typeface="Calibri"/>
                <a:sym typeface="Calibri"/>
              </a:rPr>
              <a:t>PROYECTO “CARTRACK”</a:t>
            </a:r>
            <a:endParaRPr sz="1800" dirty="0">
              <a:solidFill>
                <a:srgbClr val="757070"/>
              </a:solidFill>
              <a:latin typeface="Calibri"/>
              <a:ea typeface="Calibri"/>
              <a:cs typeface="Calibri"/>
              <a:sym typeface="Calibri"/>
            </a:endParaRPr>
          </a:p>
        </p:txBody>
      </p:sp>
    </p:spTree>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pic>
        <p:nvPicPr>
          <p:cNvPr id="239" name="Google Shape;239;p17"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240" name="Google Shape;240;p17"/>
          <p:cNvSpPr txBox="1"/>
          <p:nvPr/>
        </p:nvSpPr>
        <p:spPr>
          <a:xfrm>
            <a:off x="0" y="3044279"/>
            <a:ext cx="12191999"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4400">
                <a:solidFill>
                  <a:schemeClr val="dk1"/>
                </a:solidFill>
                <a:latin typeface="Calibri"/>
                <a:ea typeface="Calibri"/>
                <a:cs typeface="Calibri"/>
                <a:sym typeface="Calibri"/>
              </a:rPr>
              <a:t>PREGUNTAS DE LA COMISIÓN</a:t>
            </a:r>
            <a:endParaRPr/>
          </a:p>
        </p:txBody>
      </p:sp>
      <p:sp>
        <p:nvSpPr>
          <p:cNvPr id="2" name="Google Shape;202;g390e870e1cf_0_47">
            <a:extLst>
              <a:ext uri="{FF2B5EF4-FFF2-40B4-BE49-F238E27FC236}">
                <a16:creationId xmlns:a16="http://schemas.microsoft.com/office/drawing/2014/main" id="{1C0F33CF-9D1A-EEF0-A380-D9B121A726AE}"/>
              </a:ext>
            </a:extLst>
          </p:cNvPr>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lvl="0"/>
            <a:r>
              <a:rPr lang="es-CL" sz="1800" dirty="0">
                <a:solidFill>
                  <a:srgbClr val="757070"/>
                </a:solidFill>
                <a:latin typeface="Calibri"/>
                <a:ea typeface="Calibri"/>
                <a:cs typeface="Calibri"/>
                <a:sym typeface="Calibri"/>
              </a:rPr>
              <a:t>PROYECTO “CARTRACK”</a:t>
            </a:r>
            <a:endParaRPr sz="1800" dirty="0">
              <a:solidFill>
                <a:srgbClr val="757070"/>
              </a:solidFill>
              <a:latin typeface="Calibri"/>
              <a:ea typeface="Calibri"/>
              <a:cs typeface="Calibri"/>
              <a:sym typeface="Calibri"/>
            </a:endParaRPr>
          </a:p>
        </p:txBody>
      </p:sp>
    </p:spTree>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19"/>
          <p:cNvSpPr txBox="1">
            <a:spLocks noGrp="1"/>
          </p:cNvSpPr>
          <p:nvPr>
            <p:ph type="title"/>
          </p:nvPr>
        </p:nvSpPr>
        <p:spPr>
          <a:xfrm>
            <a:off x="2639616" y="1916832"/>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CL"/>
              <a:t>Consultas y/o Comentarios</a:t>
            </a:r>
            <a:endParaRPr/>
          </a:p>
        </p:txBody>
      </p:sp>
      <p:pic>
        <p:nvPicPr>
          <p:cNvPr id="246" name="Google Shape;246;p19" descr="foto_preguntas.jpg"/>
          <p:cNvPicPr preferRelativeResize="0"/>
          <p:nvPr/>
        </p:nvPicPr>
        <p:blipFill rotWithShape="1">
          <a:blip r:embed="rId3">
            <a:alphaModFix/>
          </a:blip>
          <a:srcRect/>
          <a:stretch/>
        </p:blipFill>
        <p:spPr>
          <a:xfrm>
            <a:off x="4799857" y="3356993"/>
            <a:ext cx="2143125" cy="2143125"/>
          </a:xfrm>
          <a:prstGeom prst="rect">
            <a:avLst/>
          </a:prstGeom>
          <a:noFill/>
          <a:ln>
            <a:noFill/>
          </a:ln>
        </p:spPr>
      </p:pic>
      <p:sp>
        <p:nvSpPr>
          <p:cNvPr id="2" name="Google Shape;202;g390e870e1cf_0_47">
            <a:extLst>
              <a:ext uri="{FF2B5EF4-FFF2-40B4-BE49-F238E27FC236}">
                <a16:creationId xmlns:a16="http://schemas.microsoft.com/office/drawing/2014/main" id="{917EC03B-C6BA-1042-B533-CFF1B2D1B023}"/>
              </a:ext>
            </a:extLst>
          </p:cNvPr>
          <p:cNvSpPr txBox="1"/>
          <p:nvPr/>
        </p:nvSpPr>
        <p:spPr>
          <a:xfrm>
            <a:off x="136188" y="368928"/>
            <a:ext cx="12192000" cy="369300"/>
          </a:xfrm>
          <a:prstGeom prst="rect">
            <a:avLst/>
          </a:prstGeom>
          <a:noFill/>
          <a:ln>
            <a:noFill/>
          </a:ln>
        </p:spPr>
        <p:txBody>
          <a:bodyPr spcFirstLastPara="1" wrap="square" lIns="91425" tIns="45700" rIns="91425" bIns="45700" anchor="t" anchorCtr="0">
            <a:spAutoFit/>
          </a:bodyPr>
          <a:lstStyle/>
          <a:p>
            <a:pPr lvl="0"/>
            <a:r>
              <a:rPr lang="es-CL" sz="1800" dirty="0">
                <a:solidFill>
                  <a:srgbClr val="757070"/>
                </a:solidFill>
                <a:latin typeface="Calibri"/>
                <a:ea typeface="Calibri"/>
                <a:cs typeface="Calibri"/>
                <a:sym typeface="Calibri"/>
              </a:rPr>
              <a:t>PROYECTO “CARTRACK”</a:t>
            </a:r>
            <a:endParaRPr sz="1800" dirty="0">
              <a:solidFill>
                <a:srgbClr val="757070"/>
              </a:solidFill>
              <a:latin typeface="Calibri"/>
              <a:ea typeface="Calibri"/>
              <a:cs typeface="Calibri"/>
              <a:sym typeface="Calibri"/>
            </a:endParaRPr>
          </a:p>
        </p:txBody>
      </p:sp>
    </p:spTree>
  </p:cSld>
  <p:clrMapOvr>
    <a:masterClrMapping/>
  </p:clrMapOvr>
  <p:transition spd="slow">
    <p:wipe/>
  </p:transition>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1298</Words>
  <Application>Microsoft Office PowerPoint</Application>
  <PresentationFormat>Panorámica</PresentationFormat>
  <Paragraphs>178</Paragraphs>
  <Slides>22</Slides>
  <Notes>22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22</vt:i4>
      </vt:variant>
    </vt:vector>
  </HeadingPairs>
  <TitlesOfParts>
    <vt:vector size="25" baseType="lpstr">
      <vt:lpstr>Arial</vt:lpstr>
      <vt:lpstr>Calibri</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Consultas y/o Comentarios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Gerardo Galan Cruz</dc:creator>
  <cp:lastModifiedBy>SALVADOR ALEJANDRO BRAVO CARRILLO</cp:lastModifiedBy>
  <cp:revision>13</cp:revision>
  <dcterms:created xsi:type="dcterms:W3CDTF">2023-10-28T21:12:11Z</dcterms:created>
  <dcterms:modified xsi:type="dcterms:W3CDTF">2025-11-18T02:35:13Z</dcterms:modified>
</cp:coreProperties>
</file>