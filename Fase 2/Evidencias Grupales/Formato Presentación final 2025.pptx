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UtUXZ7it5iwufbIpBeasjmV+m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C8CD77D-24F5-42D6-A210-50F5124C8EDD}">
  <a:tblStyle styleId="{0C8CD77D-24F5-42D6-A210-50F5124C8ED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0e870e1c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g390e870e1cf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90e870e1c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g390e870e1cf_0_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0e870e1c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90e870e1cf_0_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0e870e1c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90e870e1cf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4" name="Google Shape;254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1" name="Google Shape;261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2"/>
          <p:cNvGrpSpPr/>
          <p:nvPr/>
        </p:nvGrpSpPr>
        <p:grpSpPr>
          <a:xfrm>
            <a:off x="4121026" y="1719438"/>
            <a:ext cx="7633494" cy="4341934"/>
            <a:chOff x="0" y="8619"/>
            <a:chExt cx="7633494" cy="4341934"/>
          </a:xfrm>
        </p:grpSpPr>
        <p:sp>
          <p:nvSpPr>
            <p:cNvPr id="92" name="Google Shape;92;p2"/>
            <p:cNvSpPr/>
            <p:nvPr/>
          </p:nvSpPr>
          <p:spPr>
            <a:xfrm>
              <a:off x="0" y="8619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1662653" y="8619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Salvador Bravo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b="0" i="0" lang="es-CL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Fullstack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b="0" i="0" lang="es-CL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frontend, backend, arquitectura, base de datos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135954" y="135954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Sebastián Mena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b="0" i="0" lang="es-CL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Fullstack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b="0" i="0" lang="es-CL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frontend, diseño ux/ui, despliegues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135954" y="1631457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7625" lIns="87625" spcFirstLastPara="1" rIns="87625" wrap="square" tIns="876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Calibri"/>
                <a:buNone/>
              </a:pPr>
              <a:r>
                <a:rPr b="0" i="0" lang="es-CL" sz="23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Diego de la Sotta</a:t>
              </a:r>
              <a:endParaRPr b="0" i="0" sz="2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805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b="0" i="0" lang="es-CL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Desarrollador Fullstack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7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Char char="•"/>
              </a:pPr>
              <a:r>
                <a:rPr b="0" i="0" lang="es-CL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Desarrollo frontend, documentación, diseño</a:t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5954" y="3126960"/>
              <a:ext cx="1526698" cy="1087638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08" name="Google Shape;10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propietarios de vehículos enfrentan dificultades para organizar la información de sus autos, controlar gastos y gestionar documentación. Además, la verificación de historiales en autos usados es poco confiable debido al fraude frecuente. Esto provoca pérdidas económicas, riesgos en la compraventa, tiempo perdido en gestiones manuales y una creciente desconfianza en el mercado de vehículos usados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desarrollo de  una aplicación web que centraliza toda la información del vehículo, automatiza la gestión de vehículos personales, y ofrece análisis claros de gastos y mantenimientos. Además, facilita transacciones seguras con historiales verificables y controles de acceso robustos, generando confianza en todo el proceso de gestión y compraventa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9" name="Google Shape;11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" name="Google Shape;122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web responsiva con sistema de trazabilidad que centralice la gestión integral de información vehicular, incorporando funcionalidades de análisis de datos, gestión de gastos, compartición transparente de información y transferencia de propiedad con historial verificable para optimizar la experiencia y decisiones de los propietarios de vehículos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✔️</a:t>
            </a: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 solución propone un sistema que permita a cada usuario registrar y gestionar múltiples vehículos con trazabilidad completa, almacenamiento seguro de documentos y vinculación automática de toda la información. </a:t>
            </a:r>
            <a:r>
              <a:rPr b="1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✔️</a:t>
            </a: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Incluye módulos para seguimiento de mantenimientos, gastos y trámites legales. </a:t>
            </a:r>
            <a:r>
              <a:rPr b="1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✔️</a:t>
            </a: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Ofrece dashboards para analizar datos mediante gráficos y tendencias.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✔️</a:t>
            </a: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Además de reportes personalizados exportables en PDF. </a:t>
            </a:r>
            <a:r>
              <a:rPr b="1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✔️</a:t>
            </a: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También integra un sistema de compartición segura mediante códigos QR. </a:t>
            </a:r>
            <a:r>
              <a:rPr b="1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</a:t>
            </a:r>
            <a:r>
              <a:rPr b="0" i="0" lang="es-CL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una función de transferencia de vehículos entre usuarios manteniendo intacto el historial completo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0" name="Google Shape;130;g390e870e1cf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g390e870e1cf_0_5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90e870e1cf_0_56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" name="Google Shape;133;g390e870e1cf_0_56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134" name="Google Shape;134;g390e870e1cf_0_56"/>
          <p:cNvGraphicFramePr/>
          <p:nvPr/>
        </p:nvGraphicFramePr>
        <p:xfrm>
          <a:off x="571500" y="2146575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{0C8CD77D-24F5-42D6-A210-50F5124C8EDD}</a:tableStyleId>
              </a:tblPr>
              <a:tblGrid>
                <a:gridCol w="5038725"/>
                <a:gridCol w="6010275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450" u="none" cap="none" strike="noStrike">
                          <a:solidFill>
                            <a:schemeClr val="lt1"/>
                          </a:solidFill>
                          <a:highlight>
                            <a:srgbClr val="003366"/>
                          </a:highlight>
                        </a:rPr>
                        <a:t>Alcances</a:t>
                      </a:r>
                      <a:endParaRPr b="1" sz="1350" u="none" cap="none" strike="noStrike">
                        <a:solidFill>
                          <a:srgbClr val="FFFF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450" u="none" cap="none" strike="noStrike">
                          <a:solidFill>
                            <a:schemeClr val="lt1"/>
                          </a:solidFill>
                          <a:highlight>
                            <a:srgbClr val="003366"/>
                          </a:highlight>
                        </a:rPr>
                        <a:t>Limitaciones</a:t>
                      </a:r>
                      <a:endParaRPr b="1" sz="1350" u="none" cap="none" strike="noStrike">
                        <a:solidFill>
                          <a:srgbClr val="FFFF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Gestión completa de información vehicular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Aplicación web únicamente (no app móvil nativa)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Dashboards analíticos con visualizaciones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No incluye integración directa con talleres o aseguradoras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Transferencia de vehículos con historial completo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Sin integración con APIs de fabricantes de vehículos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Exportación de reportes en PDF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Sin funcionalidad de marketplace de compraventa integrado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Autenticación y autorización basada en roles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Almacenamiento de documentos limitado por cuenta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3" name="Google Shape;143;p6"/>
          <p:cNvSpPr txBox="1"/>
          <p:nvPr/>
        </p:nvSpPr>
        <p:spPr>
          <a:xfrm>
            <a:off x="982500" y="2409700"/>
            <a:ext cx="4377600" cy="33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CL" sz="21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Metodología Base: Cascada</a:t>
            </a:r>
            <a:endParaRPr b="1" i="0" sz="2100" u="none" cap="none" strike="noStrike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Se utilizó el Modelo de Cascada como guía principal. Esta metodología fue pertinente ya que el proyecto contaba con requisitos claros y bien definidos desde el inicio, permitiendo una planificación secuencial estructurada y la validación de cada fase antes de iniciar la siguiente.</a:t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Fases:</a:t>
            </a:r>
            <a:r>
              <a:rPr b="0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Análisis &gt; Diseño &gt; Implementación &gt; Pruebas.</a:t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6614800" y="2409700"/>
            <a:ext cx="4503900" cy="30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CL" sz="21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Ajuste Estratégico: Desarrollo Paralelo</a:t>
            </a:r>
            <a:endParaRPr b="1" i="0" sz="2100" u="none" cap="none" strike="noStrike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Durante la fase de Implementación, se realizó un ajuste clave: se adoptó un enfoque de desarrollo en paralelo para el frontend (Angular) y el backend (Node.js).</a:t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Esto permitió al equipo trabajar de manera simultánea, optimizando los tiempos, aprovechando las fortalezas de cada integrante y acelerando el progreso general.</a:t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9" name="Google Shape;14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7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1" y="1155656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Planificación Temporal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2" name="Google Shape;15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53" name="Google Shape;153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100" y="2324252"/>
            <a:ext cx="12191998" cy="318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8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1" name="Google Shape;161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Diagrama&#10;&#10;El contenido generado por IA puede ser incorrecto."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3475" y="1963575"/>
            <a:ext cx="8865227" cy="484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 la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Diagrama&#10;&#10;El contenido generado por IA puede ser incorrecto." id="171" name="Google Shape;17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6318" y="2078986"/>
            <a:ext cx="7119363" cy="4778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9" name="Google Shape;179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Diagrama&#10;&#10;El contenido generado por IA puede ser incorrecto." id="180" name="Google Shape;1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83288" y="2055055"/>
            <a:ext cx="8097797" cy="48029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5" name="Google Shape;18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Diagrama&#10;&#10;El contenido generado por IA puede ser incorrecto." id="189" name="Google Shape;18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078986"/>
            <a:ext cx="12192000" cy="3145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4" name="Google Shape;1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1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1"/>
          <p:cNvSpPr txBox="1"/>
          <p:nvPr/>
        </p:nvSpPr>
        <p:spPr>
          <a:xfrm>
            <a:off x="0" y="1432655"/>
            <a:ext cx="1219199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 Analíticos a Incorporar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*¿Qué?, ¿Por qué?, ¿Cómo?, ¿Con qué Periodicidad?  (al menos 3)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7" name="Google Shape;197;p11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8" name="Google Shape;198;p11"/>
          <p:cNvSpPr/>
          <p:nvPr/>
        </p:nvSpPr>
        <p:spPr>
          <a:xfrm>
            <a:off x="603504" y="2679192"/>
            <a:ext cx="3008376" cy="38098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Combustible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¿En que mes se recarga mas combustible?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Permite identificar meses de mayor actividad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Contando las recargas y sumando los litros.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Mensual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4591811" y="2679192"/>
            <a:ext cx="3008376" cy="38098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Vehiculos</a:t>
            </a:r>
            <a:endParaRPr b="1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¿En que mes se compran más vehiculos?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Planificar estrategias, analizar patrones de compra.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Agrupando todos los vehículos por el mes de su fecha de compra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</a:pPr>
            <a:r>
              <a:rPr b="0" i="0" lang="es-CL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Anual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8580120" y="2679192"/>
            <a:ext cx="3008376" cy="380988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1C30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300">
                <a:solidFill>
                  <a:schemeClr val="lt1"/>
                </a:solidFill>
              </a:rPr>
              <a:t>Gestión de Vencimientos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s-CL" sz="1300">
                <a:solidFill>
                  <a:schemeClr val="lt1"/>
                </a:solidFill>
              </a:rPr>
              <a:t>Dashboard de Vencimientos:</a:t>
            </a:r>
            <a:r>
              <a:rPr lang="es-CL" sz="1300">
                <a:solidFill>
                  <a:schemeClr val="lt1"/>
                </a:solidFill>
              </a:rPr>
              <a:t>Una vista que muestre: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s-CL" sz="1300">
                <a:solidFill>
                  <a:schemeClr val="lt1"/>
                </a:solidFill>
              </a:rPr>
              <a:t>Pólizas </a:t>
            </a:r>
            <a:r>
              <a:rPr lang="es-CL" sz="1300">
                <a:solidFill>
                  <a:schemeClr val="lt1"/>
                </a:solidFill>
              </a:rPr>
              <a:t>vencidas</a:t>
            </a:r>
            <a:endParaRPr sz="1300">
              <a:solidFill>
                <a:schemeClr val="lt1"/>
              </a:solidFill>
            </a:endParaRPr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○"/>
            </a:pPr>
            <a:r>
              <a:rPr lang="es-CL" sz="1300">
                <a:solidFill>
                  <a:schemeClr val="lt1"/>
                </a:solidFill>
              </a:rPr>
              <a:t>Por vencer en los próximos 30 dias </a:t>
            </a:r>
            <a:endParaRPr sz="1300">
              <a:solidFill>
                <a:schemeClr val="lt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</a:pPr>
            <a:r>
              <a:rPr b="1" lang="es-CL" sz="1300">
                <a:solidFill>
                  <a:schemeClr val="lt1"/>
                </a:solidFill>
              </a:rPr>
              <a:t>Calendario de Renovaciones:</a:t>
            </a:r>
            <a:r>
              <a:rPr lang="es-CL" sz="1300">
                <a:solidFill>
                  <a:schemeClr val="lt1"/>
                </a:solidFill>
              </a:rPr>
              <a:t> Una vista de calendario que marque visualmente cuándo vence cada póliza.</a:t>
            </a:r>
            <a:endParaRPr sz="1300"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5" name="Google Shape;205;g390e870e1cf_0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390e870e1cf_0_3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390e870e1cf_0_37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8" name="Google Shape;208;g390e870e1cf_0_3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09" name="Google Shape;209;g390e870e1cf_0_37"/>
          <p:cNvGraphicFramePr/>
          <p:nvPr/>
        </p:nvGraphicFramePr>
        <p:xfrm>
          <a:off x="571500" y="23314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{0C8CD77D-24F5-42D6-A210-50F5124C8EDD}</a:tableStyleId>
              </a:tblPr>
              <a:tblGrid>
                <a:gridCol w="2828925"/>
                <a:gridCol w="2019300"/>
                <a:gridCol w="1590675"/>
                <a:gridCol w="4610100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450" u="none" cap="none" strike="noStrike">
                          <a:solidFill>
                            <a:schemeClr val="lt1"/>
                          </a:solidFill>
                          <a:highlight>
                            <a:srgbClr val="003366"/>
                          </a:highlight>
                        </a:rPr>
                        <a:t>Área</a:t>
                      </a:r>
                      <a:endParaRPr b="1" sz="145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es-CL" sz="1450" u="none" cap="none" strike="noStrike">
                          <a:solidFill>
                            <a:schemeClr val="lt1"/>
                          </a:solidFill>
                          <a:highlight>
                            <a:srgbClr val="003366"/>
                          </a:highlight>
                        </a:rPr>
                        <a:t>Tecnología</a:t>
                      </a:r>
                      <a:endParaRPr b="1" sz="1450" u="none" cap="none" strike="noStrike">
                        <a:solidFill>
                          <a:schemeClr val="lt1"/>
                        </a:solidFill>
                        <a:highlight>
                          <a:srgbClr val="003366"/>
                        </a:highlight>
                      </a:endParaRPr>
                    </a:p>
                  </a:txBody>
                  <a:tcPr marT="152400" marB="152400" marR="190500" marL="19050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450" u="none" cap="none" strike="noStrike">
                          <a:solidFill>
                            <a:schemeClr val="lt1"/>
                          </a:solidFill>
                          <a:highlight>
                            <a:srgbClr val="003366"/>
                          </a:highlight>
                        </a:rPr>
                        <a:t>Versión</a:t>
                      </a:r>
                      <a:endParaRPr b="1" sz="1450" u="none" cap="none" strike="noStrike">
                        <a:solidFill>
                          <a:srgbClr val="FFFF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CL" sz="1450" u="none" cap="none" strike="noStrike">
                          <a:solidFill>
                            <a:schemeClr val="lt1"/>
                          </a:solidFill>
                          <a:highlight>
                            <a:srgbClr val="003366"/>
                          </a:highlight>
                        </a:rPr>
                        <a:t>Propósito</a:t>
                      </a:r>
                      <a:endParaRPr b="1" sz="1450" u="none" cap="none" strike="noStrike">
                        <a:solidFill>
                          <a:srgbClr val="FFFF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36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Frontend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Angular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17.x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Framework para SPA responsiva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UI Framework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Bootstrap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5.3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Diseño responsivo y componentes UI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Backend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Node.js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18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Runtime JavaScript del servidor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Framework Backend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Express.js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5.x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API REST rápida y escalable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Base de Datos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PostgreSQL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16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DB relacional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4" name="Google Shape;214;g390e870e1cf_0_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90e870e1cf_0_4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g390e870e1cf_0_47"/>
          <p:cNvSpPr txBox="1"/>
          <p:nvPr/>
        </p:nvSpPr>
        <p:spPr>
          <a:xfrm>
            <a:off x="0" y="143265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g390e870e1cf_0_47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aphicFrame>
        <p:nvGraphicFramePr>
          <p:cNvPr id="218" name="Google Shape;218;g390e870e1cf_0_47"/>
          <p:cNvGraphicFramePr/>
          <p:nvPr/>
        </p:nvGraphicFramePr>
        <p:xfrm>
          <a:off x="571500" y="2331400"/>
          <a:ext cx="3000000" cy="30000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  <a:tableStyleId>{0C8CD77D-24F5-42D6-A210-50F5124C8EDD}</a:tableStyleId>
              </a:tblPr>
              <a:tblGrid>
                <a:gridCol w="2828925"/>
                <a:gridCol w="2019300"/>
                <a:gridCol w="1590675"/>
                <a:gridCol w="4610100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es-CL" sz="1450" u="none" cap="none" strike="noStrike">
                          <a:solidFill>
                            <a:schemeClr val="lt1"/>
                          </a:solidFill>
                          <a:highlight>
                            <a:srgbClr val="003366"/>
                          </a:highlight>
                        </a:rPr>
                        <a:t>Área</a:t>
                      </a:r>
                      <a:endParaRPr b="1" sz="1450" u="none" cap="none" strike="noStrike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es-CL" sz="1450" u="none" cap="none" strike="noStrike">
                          <a:solidFill>
                            <a:schemeClr val="lt1"/>
                          </a:solidFill>
                          <a:highlight>
                            <a:srgbClr val="003366"/>
                          </a:highlight>
                        </a:rPr>
                        <a:t>Tecnología</a:t>
                      </a:r>
                      <a:endParaRPr b="1" sz="1450" u="none" cap="none" strike="noStrike">
                        <a:solidFill>
                          <a:schemeClr val="lt1"/>
                        </a:solidFill>
                        <a:highlight>
                          <a:srgbClr val="003366"/>
                        </a:highlight>
                      </a:endParaRPr>
                    </a:p>
                  </a:txBody>
                  <a:tcPr marT="152400" marB="152400" marR="190500" marL="1905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es-CL" sz="1450" u="none" cap="none" strike="noStrike">
                          <a:solidFill>
                            <a:schemeClr val="lt1"/>
                          </a:solidFill>
                          <a:highlight>
                            <a:srgbClr val="003366"/>
                          </a:highlight>
                        </a:rPr>
                        <a:t>Versión</a:t>
                      </a:r>
                      <a:endParaRPr b="1" sz="1450" u="none" cap="none" strike="noStrike">
                        <a:solidFill>
                          <a:srgbClr val="FFFF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50"/>
                        <a:buFont typeface="Arial"/>
                        <a:buNone/>
                      </a:pPr>
                      <a:r>
                        <a:rPr b="1" lang="es-CL" sz="1450" u="none" cap="none" strike="noStrike">
                          <a:solidFill>
                            <a:schemeClr val="lt1"/>
                          </a:solidFill>
                          <a:highlight>
                            <a:srgbClr val="003366"/>
                          </a:highlight>
                        </a:rPr>
                        <a:t>Propósito</a:t>
                      </a:r>
                      <a:endParaRPr b="1" sz="1450" u="none" cap="none" strike="noStrike">
                        <a:solidFill>
                          <a:srgbClr val="FFFFF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solidFill>
                      <a:srgbClr val="003366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ORM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Prisma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6.x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Mapeo objeto-relacional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Autenticación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JWT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Tokens de sesión seguros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Control Versiones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Git + GitHub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Versionamiento colaborativo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Diagramación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Figma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-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1E293B"/>
                          </a:solidFill>
                          <a:highlight>
                            <a:srgbClr val="FFFFFF"/>
                          </a:highlight>
                        </a:rPr>
                        <a:t>Diseño de Mockups y UX/UI</a:t>
                      </a:r>
                      <a:endParaRPr sz="1400" u="none" cap="none" strike="noStrike">
                        <a:solidFill>
                          <a:srgbClr val="1E293B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152400" marB="152400" marR="190500" marL="190500"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3" name="Google Shape;2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4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4"/>
          <p:cNvSpPr txBox="1"/>
          <p:nvPr/>
        </p:nvSpPr>
        <p:spPr>
          <a:xfrm>
            <a:off x="2023350" y="2228525"/>
            <a:ext cx="7730400" cy="31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s-CL" sz="1500" u="none" cap="none" strike="noStrike">
                <a:solidFill>
                  <a:srgbClr val="1E29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☑️ Una aplicación web 100% funcional que centraliza la gestión vehicular.</a:t>
            </a:r>
            <a:endParaRPr b="0" i="0" sz="1500" u="none" cap="none" strike="noStrike">
              <a:solidFill>
                <a:srgbClr val="1E293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s-CL" sz="1500" u="none" cap="none" strike="noStrike">
                <a:solidFill>
                  <a:srgbClr val="1E29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☑️ API RESTful segura y robusta para todas las operaciones CRUD del sistema.</a:t>
            </a:r>
            <a:endParaRPr b="0" i="0" sz="1500" u="none" cap="none" strike="noStrike">
              <a:solidFill>
                <a:srgbClr val="1E293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s-CL" sz="1500" u="none" cap="none" strike="noStrike">
                <a:solidFill>
                  <a:srgbClr val="1E29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☑️ Dashboards de BI que permiten el análisis de gastos y mantenimientos.</a:t>
            </a:r>
            <a:endParaRPr b="0" i="0" sz="1500" u="none" cap="none" strike="noStrike">
              <a:solidFill>
                <a:srgbClr val="1E293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s-CL" sz="1500" u="none" cap="none" strike="noStrike">
                <a:solidFill>
                  <a:srgbClr val="1E29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☑️ Sistema de trazabilidad completo, con transferencia de historial entre usuarios.</a:t>
            </a:r>
            <a:endParaRPr b="0" i="0" sz="1500" u="none" cap="none" strike="noStrike">
              <a:solidFill>
                <a:srgbClr val="1E293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500"/>
              <a:buFont typeface="Arial"/>
              <a:buNone/>
            </a:pPr>
            <a:r>
              <a:rPr b="0" i="0" lang="es-CL" sz="1500" u="none" cap="none" strike="noStrike">
                <a:solidFill>
                  <a:srgbClr val="1E293B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☑️ Documentación técnica (API) para la entrega final del proyecto</a:t>
            </a:r>
            <a:endParaRPr b="0" i="0" sz="1500" u="none" cap="none" strike="noStrike">
              <a:solidFill>
                <a:srgbClr val="1E293B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1" name="Google Shape;2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5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5"/>
          <p:cNvSpPr txBox="1"/>
          <p:nvPr/>
        </p:nvSpPr>
        <p:spPr>
          <a:xfrm>
            <a:off x="1186775" y="2529200"/>
            <a:ext cx="5603100" cy="3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21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Obstáculo: Seguridad de la API</a:t>
            </a:r>
            <a:endParaRPr b="1" i="0" sz="2100" u="none" cap="none" strike="noStrike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La implementación de un control de acceso robusto (roles, JWT) y la validación de datos en todos los endpoints fue un desafío técnico complejo.</a:t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r>
              <a:rPr b="0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Se priorizó el desarrollo de middleware de autenticación y autorización, y se realizaron revisiones de código específicas para componentes de seguridad.</a:t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5"/>
          <p:cNvSpPr txBox="1"/>
          <p:nvPr/>
        </p:nvSpPr>
        <p:spPr>
          <a:xfrm>
            <a:off x="7188750" y="2529200"/>
            <a:ext cx="3754800" cy="3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CL" sz="21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Obstáculo: Coordinación Paralela</a:t>
            </a:r>
            <a:endParaRPr b="1" i="0" sz="2100" u="none" cap="none" strike="noStrike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Mantener la consistencia entre el contrato de la API (Backend) y su consumo (Frontend) mientras se desarrollaban en paralelo fue un desafío logístico.</a:t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r>
              <a:rPr b="0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Se establecieron "contratos de API" claros y documentados (usando Postman) para minimizar malentendidos y desacoplar el trabajo.</a:t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5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0" name="Google Shape;240;g390e870e1cf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90e870e1cf_0_16"/>
          <p:cNvSpPr txBox="1"/>
          <p:nvPr/>
        </p:nvSpPr>
        <p:spPr>
          <a:xfrm>
            <a:off x="1" y="1360773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390e870e1cf_0_16"/>
          <p:cNvSpPr txBox="1"/>
          <p:nvPr/>
        </p:nvSpPr>
        <p:spPr>
          <a:xfrm>
            <a:off x="7188750" y="2529200"/>
            <a:ext cx="30000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140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390e870e1cf_0_16"/>
          <p:cNvSpPr txBox="1"/>
          <p:nvPr/>
        </p:nvSpPr>
        <p:spPr>
          <a:xfrm>
            <a:off x="1186775" y="2529200"/>
            <a:ext cx="5603100" cy="30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s-CL" sz="2100" u="none" cap="none" strike="noStrike">
                <a:solidFill>
                  <a:srgbClr val="003366"/>
                </a:solidFill>
                <a:latin typeface="Arial"/>
                <a:ea typeface="Arial"/>
                <a:cs typeface="Arial"/>
                <a:sym typeface="Arial"/>
              </a:rPr>
              <a:t>Obstáculo: Poca comunicación</a:t>
            </a:r>
            <a:endParaRPr b="1" i="0" sz="2100" u="none" cap="none" strike="noStrike">
              <a:solidFill>
                <a:srgbClr val="0033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El desarrollo del proyecto a nivel de equipo fue algo complicado, debido a la falta de comunicación, poco compromiso algunas veces</a:t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Solución:</a:t>
            </a:r>
            <a:r>
              <a:rPr b="0" i="0" lang="es-CL" sz="135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 Se estableció una comunicación clara con los miembros del equipo para poder dedicarle más tiempo al desarrollo. Reuniones semanales para ver el avance que se iba realizando.</a:t>
            </a:r>
            <a:endParaRPr b="0" i="0" sz="1350" u="none" cap="none" strike="noStrike">
              <a:solidFill>
                <a:srgbClr val="1E293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90e870e1cf_0_1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9" name="Google Shape;2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6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6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56" name="Google Shape;2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7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9"/>
          <p:cNvSpPr txBox="1"/>
          <p:nvPr>
            <p:ph type="title"/>
          </p:nvPr>
        </p:nvSpPr>
        <p:spPr>
          <a:xfrm>
            <a:off x="2639616" y="19168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Consultas y/o Comentarios</a:t>
            </a:r>
            <a:endParaRPr/>
          </a:p>
        </p:txBody>
      </p:sp>
      <p:pic>
        <p:nvPicPr>
          <p:cNvPr descr="foto_preguntas.jpg" id="264" name="Google Shape;26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9857" y="3356993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19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“CARTRACK”</a:t>
            </a:r>
            <a:endParaRPr b="0" i="0" sz="18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